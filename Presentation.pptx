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7" r:id="rId4"/>
    <p:sldId id="262" r:id="rId5"/>
    <p:sldId id="295" r:id="rId6"/>
    <p:sldId id="261" r:id="rId7"/>
    <p:sldId id="264" r:id="rId8"/>
    <p:sldId id="266" r:id="rId9"/>
    <p:sldId id="268" r:id="rId10"/>
    <p:sldId id="270" r:id="rId11"/>
    <p:sldId id="269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81" r:id="rId20"/>
    <p:sldId id="283" r:id="rId21"/>
    <p:sldId id="284" r:id="rId22"/>
    <p:sldId id="286" r:id="rId23"/>
    <p:sldId id="288" r:id="rId24"/>
    <p:sldId id="289" r:id="rId25"/>
    <p:sldId id="287" r:id="rId26"/>
    <p:sldId id="293" r:id="rId27"/>
    <p:sldId id="290" r:id="rId28"/>
    <p:sldId id="291" r:id="rId29"/>
    <p:sldId id="294" r:id="rId30"/>
    <p:sldId id="296" r:id="rId3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76253-3D83-4C3C-9279-D95425923E3A}" v="56" dt="2026-04-20T17:24:12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82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laudio K" userId="22aa2f57b105aa51" providerId="LiveId" clId="{1F841378-2D34-4BCD-BAA5-B4669251F875}"/>
    <pc:docChg chg="undo redo custSel addSld delSld modSld">
      <pc:chgData name="Klaudio K" userId="22aa2f57b105aa51" providerId="LiveId" clId="{1F841378-2D34-4BCD-BAA5-B4669251F875}" dt="2026-04-20T17:28:31.482" v="296" actId="47"/>
      <pc:docMkLst>
        <pc:docMk/>
      </pc:docMkLst>
      <pc:sldChg chg="modSp mod">
        <pc:chgData name="Klaudio K" userId="22aa2f57b105aa51" providerId="LiveId" clId="{1F841378-2D34-4BCD-BAA5-B4669251F875}" dt="2026-04-10T13:02:18.365" v="84" actId="20577"/>
        <pc:sldMkLst>
          <pc:docMk/>
          <pc:sldMk cId="305107402" sldId="257"/>
        </pc:sldMkLst>
        <pc:spChg chg="mod">
          <ac:chgData name="Klaudio K" userId="22aa2f57b105aa51" providerId="LiveId" clId="{1F841378-2D34-4BCD-BAA5-B4669251F875}" dt="2026-04-10T13:02:18.365" v="84" actId="20577"/>
          <ac:spMkLst>
            <pc:docMk/>
            <pc:sldMk cId="305107402" sldId="257"/>
            <ac:spMk id="3" creationId="{A1D54639-8C3C-6507-A012-A9F0F098736B}"/>
          </ac:spMkLst>
        </pc:spChg>
      </pc:sldChg>
      <pc:sldChg chg="del modAnim">
        <pc:chgData name="Klaudio K" userId="22aa2f57b105aa51" providerId="LiveId" clId="{1F841378-2D34-4BCD-BAA5-B4669251F875}" dt="2026-04-09T10:04:34.281" v="44" actId="47"/>
        <pc:sldMkLst>
          <pc:docMk/>
          <pc:sldMk cId="3961032810" sldId="258"/>
        </pc:sldMkLst>
      </pc:sldChg>
      <pc:sldChg chg="del">
        <pc:chgData name="Klaudio K" userId="22aa2f57b105aa51" providerId="LiveId" clId="{1F841378-2D34-4BCD-BAA5-B4669251F875}" dt="2026-04-20T17:11:01.303" v="133" actId="47"/>
        <pc:sldMkLst>
          <pc:docMk/>
          <pc:sldMk cId="3779572197" sldId="259"/>
        </pc:sldMkLst>
      </pc:sldChg>
      <pc:sldChg chg="del">
        <pc:chgData name="Klaudio K" userId="22aa2f57b105aa51" providerId="LiveId" clId="{1F841378-2D34-4BCD-BAA5-B4669251F875}" dt="2026-04-09T09:53:16.033" v="0" actId="47"/>
        <pc:sldMkLst>
          <pc:docMk/>
          <pc:sldMk cId="980336327" sldId="260"/>
        </pc:sldMkLst>
      </pc:sldChg>
      <pc:sldChg chg="addSp modSp mod">
        <pc:chgData name="Klaudio K" userId="22aa2f57b105aa51" providerId="LiveId" clId="{1F841378-2D34-4BCD-BAA5-B4669251F875}" dt="2026-04-20T17:21:49.294" v="273" actId="1076"/>
        <pc:sldMkLst>
          <pc:docMk/>
          <pc:sldMk cId="1441989887" sldId="261"/>
        </pc:sldMkLst>
        <pc:spChg chg="mod">
          <ac:chgData name="Klaudio K" userId="22aa2f57b105aa51" providerId="LiveId" clId="{1F841378-2D34-4BCD-BAA5-B4669251F875}" dt="2026-04-20T17:21:49.294" v="273" actId="1076"/>
          <ac:spMkLst>
            <pc:docMk/>
            <pc:sldMk cId="1441989887" sldId="261"/>
            <ac:spMk id="3" creationId="{D1B36DC7-C8FA-264E-19B0-CBB89DAF6995}"/>
          </ac:spMkLst>
        </pc:spChg>
        <pc:spChg chg="add mod">
          <ac:chgData name="Klaudio K" userId="22aa2f57b105aa51" providerId="LiveId" clId="{1F841378-2D34-4BCD-BAA5-B4669251F875}" dt="2026-04-20T17:21:40.705" v="272" actId="27636"/>
          <ac:spMkLst>
            <pc:docMk/>
            <pc:sldMk cId="1441989887" sldId="261"/>
            <ac:spMk id="4" creationId="{F6C4F488-7C3A-351D-B3F9-5683ADFB0B2B}"/>
          </ac:spMkLst>
        </pc:spChg>
      </pc:sldChg>
      <pc:sldChg chg="addSp delSp modSp mod setBg">
        <pc:chgData name="Klaudio K" userId="22aa2f57b105aa51" providerId="LiveId" clId="{1F841378-2D34-4BCD-BAA5-B4669251F875}" dt="2026-04-20T17:10:51.282" v="132" actId="14100"/>
        <pc:sldMkLst>
          <pc:docMk/>
          <pc:sldMk cId="622003856" sldId="262"/>
        </pc:sldMkLst>
        <pc:spChg chg="mod">
          <ac:chgData name="Klaudio K" userId="22aa2f57b105aa51" providerId="LiveId" clId="{1F841378-2D34-4BCD-BAA5-B4669251F875}" dt="2026-04-20T17:10:13.520" v="122" actId="26606"/>
          <ac:spMkLst>
            <pc:docMk/>
            <pc:sldMk cId="622003856" sldId="262"/>
            <ac:spMk id="2" creationId="{ACB92CF8-D5BD-49C2-7539-BA208AFA3DB1}"/>
          </ac:spMkLst>
        </pc:spChg>
        <pc:spChg chg="mod">
          <ac:chgData name="Klaudio K" userId="22aa2f57b105aa51" providerId="LiveId" clId="{1F841378-2D34-4BCD-BAA5-B4669251F875}" dt="2026-04-20T17:10:42.666" v="130" actId="5793"/>
          <ac:spMkLst>
            <pc:docMk/>
            <pc:sldMk cId="622003856" sldId="262"/>
            <ac:spMk id="4" creationId="{631E16E5-BAB5-EB60-1760-156999C6F9AA}"/>
          </ac:spMkLst>
        </pc:spChg>
        <pc:spChg chg="add del">
          <ac:chgData name="Klaudio K" userId="22aa2f57b105aa51" providerId="LiveId" clId="{1F841378-2D34-4BCD-BAA5-B4669251F875}" dt="2026-04-20T17:10:13.511" v="121" actId="26606"/>
          <ac:spMkLst>
            <pc:docMk/>
            <pc:sldMk cId="622003856" sldId="262"/>
            <ac:spMk id="9" creationId="{04812C46-200A-4DEB-A05E-3ED6C68C2387}"/>
          </ac:spMkLst>
        </pc:spChg>
        <pc:spChg chg="add del">
          <ac:chgData name="Klaudio K" userId="22aa2f57b105aa51" providerId="LiveId" clId="{1F841378-2D34-4BCD-BAA5-B4669251F875}" dt="2026-04-20T17:10:13.511" v="121" actId="26606"/>
          <ac:spMkLst>
            <pc:docMk/>
            <pc:sldMk cId="622003856" sldId="262"/>
            <ac:spMk id="11" creationId="{D1EA859B-E555-4109-94F3-6700E046E008}"/>
          </ac:spMkLst>
        </pc:spChg>
        <pc:spChg chg="add">
          <ac:chgData name="Klaudio K" userId="22aa2f57b105aa51" providerId="LiveId" clId="{1F841378-2D34-4BCD-BAA5-B4669251F875}" dt="2026-04-20T17:10:13.520" v="122" actId="26606"/>
          <ac:spMkLst>
            <pc:docMk/>
            <pc:sldMk cId="622003856" sldId="262"/>
            <ac:spMk id="13" creationId="{E659831F-0D9A-4C63-9EBB-8435B85A440F}"/>
          </ac:spMkLst>
        </pc:spChg>
        <pc:spChg chg="add">
          <ac:chgData name="Klaudio K" userId="22aa2f57b105aa51" providerId="LiveId" clId="{1F841378-2D34-4BCD-BAA5-B4669251F875}" dt="2026-04-20T17:10:13.520" v="122" actId="26606"/>
          <ac:spMkLst>
            <pc:docMk/>
            <pc:sldMk cId="622003856" sldId="262"/>
            <ac:spMk id="14" creationId="{058A14AF-9FB5-4CC7-BA35-E8E85D3EDF0E}"/>
          </ac:spMkLst>
        </pc:spChg>
        <pc:spChg chg="add">
          <ac:chgData name="Klaudio K" userId="22aa2f57b105aa51" providerId="LiveId" clId="{1F841378-2D34-4BCD-BAA5-B4669251F875}" dt="2026-04-20T17:10:13.520" v="122" actId="26606"/>
          <ac:spMkLst>
            <pc:docMk/>
            <pc:sldMk cId="622003856" sldId="262"/>
            <ac:spMk id="15" creationId="{E6995CE5-F890-4ABA-82A2-26507CE8D2A3}"/>
          </ac:spMkLst>
        </pc:spChg>
        <pc:spChg chg="add">
          <ac:chgData name="Klaudio K" userId="22aa2f57b105aa51" providerId="LiveId" clId="{1F841378-2D34-4BCD-BAA5-B4669251F875}" dt="2026-04-20T17:10:13.520" v="122" actId="26606"/>
          <ac:spMkLst>
            <pc:docMk/>
            <pc:sldMk cId="622003856" sldId="262"/>
            <ac:spMk id="16" creationId="{3A9A4357-BD1D-4622-A4FE-766E6AB8DE84}"/>
          </ac:spMkLst>
        </pc:spChg>
        <pc:picChg chg="add mod ord">
          <ac:chgData name="Klaudio K" userId="22aa2f57b105aa51" providerId="LiveId" clId="{1F841378-2D34-4BCD-BAA5-B4669251F875}" dt="2026-04-20T17:10:51.282" v="132" actId="14100"/>
          <ac:picMkLst>
            <pc:docMk/>
            <pc:sldMk cId="622003856" sldId="262"/>
            <ac:picMk id="3" creationId="{B76FB3AD-C426-3325-7D81-A78CF7556642}"/>
          </ac:picMkLst>
        </pc:picChg>
      </pc:sldChg>
      <pc:sldChg chg="modSp del">
        <pc:chgData name="Klaudio K" userId="22aa2f57b105aa51" providerId="LiveId" clId="{1F841378-2D34-4BCD-BAA5-B4669251F875}" dt="2026-04-20T17:21:58.868" v="274" actId="47"/>
        <pc:sldMkLst>
          <pc:docMk/>
          <pc:sldMk cId="187543172" sldId="263"/>
        </pc:sldMkLst>
        <pc:spChg chg="mod">
          <ac:chgData name="Klaudio K" userId="22aa2f57b105aa51" providerId="LiveId" clId="{1F841378-2D34-4BCD-BAA5-B4669251F875}" dt="2026-04-20T15:41:37.848" v="90" actId="20577"/>
          <ac:spMkLst>
            <pc:docMk/>
            <pc:sldMk cId="187543172" sldId="263"/>
            <ac:spMk id="3" creationId="{9CF1A63C-E6CB-4DF8-E1B6-7F30ED954D67}"/>
          </ac:spMkLst>
        </pc:spChg>
      </pc:sldChg>
      <pc:sldChg chg="addSp modSp mod">
        <pc:chgData name="Klaudio K" userId="22aa2f57b105aa51" providerId="LiveId" clId="{1F841378-2D34-4BCD-BAA5-B4669251F875}" dt="2026-04-20T17:22:59.362" v="286" actId="20577"/>
        <pc:sldMkLst>
          <pc:docMk/>
          <pc:sldMk cId="598442395" sldId="264"/>
        </pc:sldMkLst>
        <pc:spChg chg="mod">
          <ac:chgData name="Klaudio K" userId="22aa2f57b105aa51" providerId="LiveId" clId="{1F841378-2D34-4BCD-BAA5-B4669251F875}" dt="2026-04-20T17:22:59.362" v="286" actId="20577"/>
          <ac:spMkLst>
            <pc:docMk/>
            <pc:sldMk cId="598442395" sldId="264"/>
            <ac:spMk id="3" creationId="{1944ED6A-C9D9-858D-5C07-F74CF497E821}"/>
          </ac:spMkLst>
        </pc:spChg>
        <pc:spChg chg="add mod">
          <ac:chgData name="Klaudio K" userId="22aa2f57b105aa51" providerId="LiveId" clId="{1F841378-2D34-4BCD-BAA5-B4669251F875}" dt="2026-04-20T17:22:42.944" v="283" actId="27636"/>
          <ac:spMkLst>
            <pc:docMk/>
            <pc:sldMk cId="598442395" sldId="264"/>
            <ac:spMk id="4" creationId="{99FA9BDE-C308-B814-FFC2-6086B75FACBA}"/>
          </ac:spMkLst>
        </pc:spChg>
      </pc:sldChg>
      <pc:sldChg chg="del">
        <pc:chgData name="Klaudio K" userId="22aa2f57b105aa51" providerId="LiveId" clId="{1F841378-2D34-4BCD-BAA5-B4669251F875}" dt="2026-04-20T17:23:04.265" v="287" actId="47"/>
        <pc:sldMkLst>
          <pc:docMk/>
          <pc:sldMk cId="3762799880" sldId="265"/>
        </pc:sldMkLst>
      </pc:sldChg>
      <pc:sldChg chg="modSp mod">
        <pc:chgData name="Klaudio K" userId="22aa2f57b105aa51" providerId="LiveId" clId="{1F841378-2D34-4BCD-BAA5-B4669251F875}" dt="2026-04-20T15:42:37.174" v="116" actId="20577"/>
        <pc:sldMkLst>
          <pc:docMk/>
          <pc:sldMk cId="2015554622" sldId="266"/>
        </pc:sldMkLst>
        <pc:graphicFrameChg chg="modGraphic">
          <ac:chgData name="Klaudio K" userId="22aa2f57b105aa51" providerId="LiveId" clId="{1F841378-2D34-4BCD-BAA5-B4669251F875}" dt="2026-04-20T15:42:37.174" v="116" actId="20577"/>
          <ac:graphicFrameMkLst>
            <pc:docMk/>
            <pc:sldMk cId="2015554622" sldId="266"/>
            <ac:graphicFrameMk id="4" creationId="{10752088-D05F-EE03-074A-96033C4368A8}"/>
          </ac:graphicFrameMkLst>
        </pc:graphicFrameChg>
      </pc:sldChg>
      <pc:sldChg chg="del">
        <pc:chgData name="Klaudio K" userId="22aa2f57b105aa51" providerId="LiveId" clId="{1F841378-2D34-4BCD-BAA5-B4669251F875}" dt="2026-04-20T17:14:52.026" v="147" actId="47"/>
        <pc:sldMkLst>
          <pc:docMk/>
          <pc:sldMk cId="1194151539" sldId="267"/>
        </pc:sldMkLst>
      </pc:sldChg>
      <pc:sldChg chg="modSp del mod">
        <pc:chgData name="Klaudio K" userId="22aa2f57b105aa51" providerId="LiveId" clId="{1F841378-2D34-4BCD-BAA5-B4669251F875}" dt="2026-04-20T17:13:12.845" v="146" actId="47"/>
        <pc:sldMkLst>
          <pc:docMk/>
          <pc:sldMk cId="1233836562" sldId="271"/>
        </pc:sldMkLst>
        <pc:spChg chg="mod">
          <ac:chgData name="Klaudio K" userId="22aa2f57b105aa51" providerId="LiveId" clId="{1F841378-2D34-4BCD-BAA5-B4669251F875}" dt="2026-04-20T15:43:01.623" v="117" actId="20577"/>
          <ac:spMkLst>
            <pc:docMk/>
            <pc:sldMk cId="1233836562" sldId="271"/>
            <ac:spMk id="11" creationId="{30016E0F-6D67-3E8F-5700-08A65A0DF946}"/>
          </ac:spMkLst>
        </pc:spChg>
      </pc:sldChg>
      <pc:sldChg chg="addSp modSp del mod setBg">
        <pc:chgData name="Klaudio K" userId="22aa2f57b105aa51" providerId="LiveId" clId="{1F841378-2D34-4BCD-BAA5-B4669251F875}" dt="2026-04-20T17:28:31.482" v="296" actId="47"/>
        <pc:sldMkLst>
          <pc:docMk/>
          <pc:sldMk cId="4211885480" sldId="279"/>
        </pc:sldMkLst>
        <pc:spChg chg="mod">
          <ac:chgData name="Klaudio K" userId="22aa2f57b105aa51" providerId="LiveId" clId="{1F841378-2D34-4BCD-BAA5-B4669251F875}" dt="2026-04-20T17:12:07.714" v="138" actId="26606"/>
          <ac:spMkLst>
            <pc:docMk/>
            <pc:sldMk cId="4211885480" sldId="279"/>
            <ac:spMk id="2" creationId="{3F9BEBBC-637B-96F6-B39E-F0D042041480}"/>
          </ac:spMkLst>
        </pc:spChg>
        <pc:spChg chg="add">
          <ac:chgData name="Klaudio K" userId="22aa2f57b105aa51" providerId="LiveId" clId="{1F841378-2D34-4BCD-BAA5-B4669251F875}" dt="2026-04-20T17:12:07.714" v="138" actId="26606"/>
          <ac:spMkLst>
            <pc:docMk/>
            <pc:sldMk cId="4211885480" sldId="279"/>
            <ac:spMk id="9" creationId="{99ED5833-B85B-4103-8A3B-CAB0308E6C15}"/>
          </ac:spMkLst>
        </pc:spChg>
        <pc:picChg chg="add mod">
          <ac:chgData name="Klaudio K" userId="22aa2f57b105aa51" providerId="LiveId" clId="{1F841378-2D34-4BCD-BAA5-B4669251F875}" dt="2026-04-20T17:12:36.115" v="142" actId="14100"/>
          <ac:picMkLst>
            <pc:docMk/>
            <pc:sldMk cId="4211885480" sldId="279"/>
            <ac:picMk id="3" creationId="{E35F5397-85EA-70A6-4C5B-335E76406284}"/>
          </ac:picMkLst>
        </pc:picChg>
        <pc:picChg chg="mod ord">
          <ac:chgData name="Klaudio K" userId="22aa2f57b105aa51" providerId="LiveId" clId="{1F841378-2D34-4BCD-BAA5-B4669251F875}" dt="2026-04-20T17:12:39.799" v="143" actId="14100"/>
          <ac:picMkLst>
            <pc:docMk/>
            <pc:sldMk cId="4211885480" sldId="279"/>
            <ac:picMk id="4" creationId="{2ABFB61A-9D1D-04C1-90AA-8160EF17E42B}"/>
          </ac:picMkLst>
        </pc:picChg>
      </pc:sldChg>
      <pc:sldChg chg="del">
        <pc:chgData name="Klaudio K" userId="22aa2f57b105aa51" providerId="LiveId" clId="{1F841378-2D34-4BCD-BAA5-B4669251F875}" dt="2026-04-20T17:12:42.586" v="144" actId="47"/>
        <pc:sldMkLst>
          <pc:docMk/>
          <pc:sldMk cId="1879033795" sldId="280"/>
        </pc:sldMkLst>
      </pc:sldChg>
      <pc:sldChg chg="del">
        <pc:chgData name="Klaudio K" userId="22aa2f57b105aa51" providerId="LiveId" clId="{1F841378-2D34-4BCD-BAA5-B4669251F875}" dt="2026-04-20T17:12:56.214" v="145" actId="47"/>
        <pc:sldMkLst>
          <pc:docMk/>
          <pc:sldMk cId="1188424564" sldId="282"/>
        </pc:sldMkLst>
      </pc:sldChg>
      <pc:sldChg chg="del">
        <pc:chgData name="Klaudio K" userId="22aa2f57b105aa51" providerId="LiveId" clId="{1F841378-2D34-4BCD-BAA5-B4669251F875}" dt="2026-04-20T17:16:17.473" v="148" actId="47"/>
        <pc:sldMkLst>
          <pc:docMk/>
          <pc:sldMk cId="2719367690" sldId="285"/>
        </pc:sldMkLst>
      </pc:sldChg>
      <pc:sldChg chg="add del">
        <pc:chgData name="Klaudio K" userId="22aa2f57b105aa51" providerId="LiveId" clId="{1F841378-2D34-4BCD-BAA5-B4669251F875}" dt="2026-04-20T17:24:48.186" v="295" actId="47"/>
        <pc:sldMkLst>
          <pc:docMk/>
          <pc:sldMk cId="1516514274" sldId="292"/>
        </pc:sldMkLst>
      </pc:sldChg>
      <pc:sldChg chg="addSp delSp modSp mod setBg">
        <pc:chgData name="Klaudio K" userId="22aa2f57b105aa51" providerId="LiveId" clId="{1F841378-2D34-4BCD-BAA5-B4669251F875}" dt="2026-04-20T17:24:43.472" v="294" actId="26606"/>
        <pc:sldMkLst>
          <pc:docMk/>
          <pc:sldMk cId="443236261" sldId="296"/>
        </pc:sldMkLst>
        <pc:spChg chg="mod">
          <ac:chgData name="Klaudio K" userId="22aa2f57b105aa51" providerId="LiveId" clId="{1F841378-2D34-4BCD-BAA5-B4669251F875}" dt="2026-04-20T17:24:43.472" v="294" actId="26606"/>
          <ac:spMkLst>
            <pc:docMk/>
            <pc:sldMk cId="443236261" sldId="296"/>
            <ac:spMk id="2" creationId="{D26F587B-6D18-52A2-BFC8-40627E56818D}"/>
          </ac:spMkLst>
        </pc:spChg>
        <pc:spChg chg="mod">
          <ac:chgData name="Klaudio K" userId="22aa2f57b105aa51" providerId="LiveId" clId="{1F841378-2D34-4BCD-BAA5-B4669251F875}" dt="2026-04-20T17:24:43.472" v="294" actId="26606"/>
          <ac:spMkLst>
            <pc:docMk/>
            <pc:sldMk cId="443236261" sldId="296"/>
            <ac:spMk id="4" creationId="{0283F610-89E3-69FD-D5C5-1B9B03DDC7C1}"/>
          </ac:spMkLst>
        </pc:spChg>
        <pc:spChg chg="add del">
          <ac:chgData name="Klaudio K" userId="22aa2f57b105aa51" providerId="LiveId" clId="{1F841378-2D34-4BCD-BAA5-B4669251F875}" dt="2026-04-20T17:24:43.464" v="293" actId="26606"/>
          <ac:spMkLst>
            <pc:docMk/>
            <pc:sldMk cId="443236261" sldId="296"/>
            <ac:spMk id="9" creationId="{058A14AF-9FB5-4CC7-BA35-E8E85D3EDF0E}"/>
          </ac:spMkLst>
        </pc:spChg>
        <pc:spChg chg="add del">
          <ac:chgData name="Klaudio K" userId="22aa2f57b105aa51" providerId="LiveId" clId="{1F841378-2D34-4BCD-BAA5-B4669251F875}" dt="2026-04-20T17:24:43.464" v="293" actId="26606"/>
          <ac:spMkLst>
            <pc:docMk/>
            <pc:sldMk cId="443236261" sldId="296"/>
            <ac:spMk id="11" creationId="{3A9A4357-BD1D-4622-A4FE-766E6AB8DE84}"/>
          </ac:spMkLst>
        </pc:spChg>
        <pc:spChg chg="add del">
          <ac:chgData name="Klaudio K" userId="22aa2f57b105aa51" providerId="LiveId" clId="{1F841378-2D34-4BCD-BAA5-B4669251F875}" dt="2026-04-20T17:24:43.464" v="293" actId="26606"/>
          <ac:spMkLst>
            <pc:docMk/>
            <pc:sldMk cId="443236261" sldId="296"/>
            <ac:spMk id="13" creationId="{E659831F-0D9A-4C63-9EBB-8435B85A440F}"/>
          </ac:spMkLst>
        </pc:spChg>
        <pc:spChg chg="add del">
          <ac:chgData name="Klaudio K" userId="22aa2f57b105aa51" providerId="LiveId" clId="{1F841378-2D34-4BCD-BAA5-B4669251F875}" dt="2026-04-20T17:24:43.464" v="293" actId="26606"/>
          <ac:spMkLst>
            <pc:docMk/>
            <pc:sldMk cId="443236261" sldId="296"/>
            <ac:spMk id="15" creationId="{E6995CE5-F890-4ABA-82A2-26507CE8D2A3}"/>
          </ac:spMkLst>
        </pc:spChg>
        <pc:spChg chg="add">
          <ac:chgData name="Klaudio K" userId="22aa2f57b105aa51" providerId="LiveId" clId="{1F841378-2D34-4BCD-BAA5-B4669251F875}" dt="2026-04-20T17:24:43.472" v="294" actId="26606"/>
          <ac:spMkLst>
            <pc:docMk/>
            <pc:sldMk cId="443236261" sldId="296"/>
            <ac:spMk id="17" creationId="{0B9EE3F3-89B7-43C3-8651-C4C96830993D}"/>
          </ac:spMkLst>
        </pc:spChg>
        <pc:spChg chg="add">
          <ac:chgData name="Klaudio K" userId="22aa2f57b105aa51" providerId="LiveId" clId="{1F841378-2D34-4BCD-BAA5-B4669251F875}" dt="2026-04-20T17:24:43.472" v="294" actId="26606"/>
          <ac:spMkLst>
            <pc:docMk/>
            <pc:sldMk cId="443236261" sldId="296"/>
            <ac:spMk id="18" creationId="{33AE4636-AEEC-45D6-84D4-7AC2DA48ECF8}"/>
          </ac:spMkLst>
        </pc:spChg>
        <pc:spChg chg="add">
          <ac:chgData name="Klaudio K" userId="22aa2f57b105aa51" providerId="LiveId" clId="{1F841378-2D34-4BCD-BAA5-B4669251F875}" dt="2026-04-20T17:24:43.472" v="294" actId="26606"/>
          <ac:spMkLst>
            <pc:docMk/>
            <pc:sldMk cId="443236261" sldId="296"/>
            <ac:spMk id="19" creationId="{8D9CE0F4-2EB2-4F1F-8AAC-DB3571D9FE10}"/>
          </ac:spMkLst>
        </pc:spChg>
        <pc:picChg chg="add mod">
          <ac:chgData name="Klaudio K" userId="22aa2f57b105aa51" providerId="LiveId" clId="{1F841378-2D34-4BCD-BAA5-B4669251F875}" dt="2026-04-20T17:24:43.472" v="294" actId="26606"/>
          <ac:picMkLst>
            <pc:docMk/>
            <pc:sldMk cId="443236261" sldId="296"/>
            <ac:picMk id="3" creationId="{1D0356D9-77C6-01B3-3523-2FA94EF55525}"/>
          </ac:picMkLst>
        </pc:picChg>
      </pc:sldChg>
      <pc:sldChg chg="addSp delSp modSp add mod modAnim">
        <pc:chgData name="Klaudio K" userId="22aa2f57b105aa51" providerId="LiveId" clId="{1F841378-2D34-4BCD-BAA5-B4669251F875}" dt="2026-04-09T10:04:28.805" v="43" actId="207"/>
        <pc:sldMkLst>
          <pc:docMk/>
          <pc:sldMk cId="316744986" sldId="297"/>
        </pc:sldMkLst>
        <pc:spChg chg="mod">
          <ac:chgData name="Klaudio K" userId="22aa2f57b105aa51" providerId="LiveId" clId="{1F841378-2D34-4BCD-BAA5-B4669251F875}" dt="2026-04-09T10:04:17.564" v="42" actId="207"/>
          <ac:spMkLst>
            <pc:docMk/>
            <pc:sldMk cId="316744986" sldId="297"/>
            <ac:spMk id="36" creationId="{B22511C5-3002-F68B-46E2-0608A7750480}"/>
          </ac:spMkLst>
        </pc:spChg>
        <pc:spChg chg="mod">
          <ac:chgData name="Klaudio K" userId="22aa2f57b105aa51" providerId="LiveId" clId="{1F841378-2D34-4BCD-BAA5-B4669251F875}" dt="2026-04-09T10:04:17.564" v="42" actId="207"/>
          <ac:spMkLst>
            <pc:docMk/>
            <pc:sldMk cId="316744986" sldId="297"/>
            <ac:spMk id="37" creationId="{455590EB-F9D0-369E-925D-A1D739E6A627}"/>
          </ac:spMkLst>
        </pc:spChg>
        <pc:spChg chg="mod">
          <ac:chgData name="Klaudio K" userId="22aa2f57b105aa51" providerId="LiveId" clId="{1F841378-2D34-4BCD-BAA5-B4669251F875}" dt="2026-04-09T10:04:17.564" v="42" actId="207"/>
          <ac:spMkLst>
            <pc:docMk/>
            <pc:sldMk cId="316744986" sldId="297"/>
            <ac:spMk id="38" creationId="{A89D35D6-FB06-3DBF-6888-55DFE5B65E37}"/>
          </ac:spMkLst>
        </pc:spChg>
        <pc:spChg chg="mod">
          <ac:chgData name="Klaudio K" userId="22aa2f57b105aa51" providerId="LiveId" clId="{1F841378-2D34-4BCD-BAA5-B4669251F875}" dt="2026-04-09T10:04:17.564" v="42" actId="207"/>
          <ac:spMkLst>
            <pc:docMk/>
            <pc:sldMk cId="316744986" sldId="297"/>
            <ac:spMk id="39" creationId="{BC709135-7861-E8FE-E2AA-B8E788B5AABA}"/>
          </ac:spMkLst>
        </pc:spChg>
        <pc:spChg chg="mod">
          <ac:chgData name="Klaudio K" userId="22aa2f57b105aa51" providerId="LiveId" clId="{1F841378-2D34-4BCD-BAA5-B4669251F875}" dt="2026-04-09T10:04:17.564" v="42" actId="207"/>
          <ac:spMkLst>
            <pc:docMk/>
            <pc:sldMk cId="316744986" sldId="297"/>
            <ac:spMk id="40" creationId="{436A3CF3-91BD-71C9-C9E6-5CD56296C741}"/>
          </ac:spMkLst>
        </pc:spChg>
        <pc:spChg chg="mod">
          <ac:chgData name="Klaudio K" userId="22aa2f57b105aa51" providerId="LiveId" clId="{1F841378-2D34-4BCD-BAA5-B4669251F875}" dt="2026-04-09T10:04:17.564" v="42" actId="207"/>
          <ac:spMkLst>
            <pc:docMk/>
            <pc:sldMk cId="316744986" sldId="297"/>
            <ac:spMk id="41" creationId="{BCD3EF10-50CA-C780-0E81-E4549D601791}"/>
          </ac:spMkLst>
        </pc:spChg>
        <pc:spChg chg="mod">
          <ac:chgData name="Klaudio K" userId="22aa2f57b105aa51" providerId="LiveId" clId="{1F841378-2D34-4BCD-BAA5-B4669251F875}" dt="2026-04-09T10:04:17.564" v="42" actId="207"/>
          <ac:spMkLst>
            <pc:docMk/>
            <pc:sldMk cId="316744986" sldId="297"/>
            <ac:spMk id="42" creationId="{4A4E3EFE-866E-552F-68B4-C686417CA6FD}"/>
          </ac:spMkLst>
        </pc:spChg>
        <pc:spChg chg="mod">
          <ac:chgData name="Klaudio K" userId="22aa2f57b105aa51" providerId="LiveId" clId="{1F841378-2D34-4BCD-BAA5-B4669251F875}" dt="2026-04-09T10:04:17.564" v="42" actId="207"/>
          <ac:spMkLst>
            <pc:docMk/>
            <pc:sldMk cId="316744986" sldId="297"/>
            <ac:spMk id="43" creationId="{7133D61C-3214-08EF-3ED9-7783E7C2AA4F}"/>
          </ac:spMkLst>
        </pc:spChg>
        <pc:spChg chg="mod">
          <ac:chgData name="Klaudio K" userId="22aa2f57b105aa51" providerId="LiveId" clId="{1F841378-2D34-4BCD-BAA5-B4669251F875}" dt="2026-04-09T10:04:17.564" v="42" actId="207"/>
          <ac:spMkLst>
            <pc:docMk/>
            <pc:sldMk cId="316744986" sldId="297"/>
            <ac:spMk id="44" creationId="{BEBF5CB7-627A-9E95-4127-22FDC0B8FAE2}"/>
          </ac:spMkLst>
        </pc:spChg>
        <pc:spChg chg="mod">
          <ac:chgData name="Klaudio K" userId="22aa2f57b105aa51" providerId="LiveId" clId="{1F841378-2D34-4BCD-BAA5-B4669251F875}" dt="2026-04-09T09:59:01.329" v="6" actId="207"/>
          <ac:spMkLst>
            <pc:docMk/>
            <pc:sldMk cId="316744986" sldId="297"/>
            <ac:spMk id="46" creationId="{CF943288-0C8E-B6C8-D53D-0F23902833D3}"/>
          </ac:spMkLst>
        </pc:spChg>
        <pc:spChg chg="mod">
          <ac:chgData name="Klaudio K" userId="22aa2f57b105aa51" providerId="LiveId" clId="{1F841378-2D34-4BCD-BAA5-B4669251F875}" dt="2026-04-09T09:58:37.857" v="5" actId="207"/>
          <ac:spMkLst>
            <pc:docMk/>
            <pc:sldMk cId="316744986" sldId="297"/>
            <ac:spMk id="47" creationId="{63BC42D0-7347-1CC9-57C4-A0B7AD02BF8C}"/>
          </ac:spMkLst>
        </pc:spChg>
        <pc:spChg chg="mod">
          <ac:chgData name="Klaudio K" userId="22aa2f57b105aa51" providerId="LiveId" clId="{1F841378-2D34-4BCD-BAA5-B4669251F875}" dt="2026-04-09T09:59:22.025" v="8" actId="207"/>
          <ac:spMkLst>
            <pc:docMk/>
            <pc:sldMk cId="316744986" sldId="297"/>
            <ac:spMk id="48" creationId="{FA9E72CA-77C2-D9F0-660D-D63E85516116}"/>
          </ac:spMkLst>
        </pc:spChg>
        <pc:spChg chg="mod">
          <ac:chgData name="Klaudio K" userId="22aa2f57b105aa51" providerId="LiveId" clId="{1F841378-2D34-4BCD-BAA5-B4669251F875}" dt="2026-04-09T09:59:01.329" v="6" actId="207"/>
          <ac:spMkLst>
            <pc:docMk/>
            <pc:sldMk cId="316744986" sldId="297"/>
            <ac:spMk id="49" creationId="{3DD08FFA-F29F-94F3-D9F3-DA4FBF576A36}"/>
          </ac:spMkLst>
        </pc:spChg>
        <pc:spChg chg="mod">
          <ac:chgData name="Klaudio K" userId="22aa2f57b105aa51" providerId="LiveId" clId="{1F841378-2D34-4BCD-BAA5-B4669251F875}" dt="2026-04-09T09:58:37.857" v="5" actId="207"/>
          <ac:spMkLst>
            <pc:docMk/>
            <pc:sldMk cId="316744986" sldId="297"/>
            <ac:spMk id="50" creationId="{49B54406-3AC2-720B-AD72-7255F36B687D}"/>
          </ac:spMkLst>
        </pc:spChg>
        <pc:spChg chg="mod">
          <ac:chgData name="Klaudio K" userId="22aa2f57b105aa51" providerId="LiveId" clId="{1F841378-2D34-4BCD-BAA5-B4669251F875}" dt="2026-04-09T09:59:22.025" v="8" actId="207"/>
          <ac:spMkLst>
            <pc:docMk/>
            <pc:sldMk cId="316744986" sldId="297"/>
            <ac:spMk id="51" creationId="{7E886E03-F35F-11A6-0442-FB50B8FED95F}"/>
          </ac:spMkLst>
        </pc:spChg>
        <pc:spChg chg="mod">
          <ac:chgData name="Klaudio K" userId="22aa2f57b105aa51" providerId="LiveId" clId="{1F841378-2D34-4BCD-BAA5-B4669251F875}" dt="2026-04-09T09:59:08.842" v="7" actId="207"/>
          <ac:spMkLst>
            <pc:docMk/>
            <pc:sldMk cId="316744986" sldId="297"/>
            <ac:spMk id="52" creationId="{86FC1049-53CB-A7CD-B3CE-E0E695D0C4D2}"/>
          </ac:spMkLst>
        </pc:spChg>
        <pc:spChg chg="mod">
          <ac:chgData name="Klaudio K" userId="22aa2f57b105aa51" providerId="LiveId" clId="{1F841378-2D34-4BCD-BAA5-B4669251F875}" dt="2026-04-09T09:58:37.857" v="5" actId="207"/>
          <ac:spMkLst>
            <pc:docMk/>
            <pc:sldMk cId="316744986" sldId="297"/>
            <ac:spMk id="53" creationId="{4F06FB78-9A37-35A4-324B-8304B9067215}"/>
          </ac:spMkLst>
        </pc:spChg>
        <pc:spChg chg="mod">
          <ac:chgData name="Klaudio K" userId="22aa2f57b105aa51" providerId="LiveId" clId="{1F841378-2D34-4BCD-BAA5-B4669251F875}" dt="2026-04-09T09:59:22.025" v="8" actId="207"/>
          <ac:spMkLst>
            <pc:docMk/>
            <pc:sldMk cId="316744986" sldId="297"/>
            <ac:spMk id="54" creationId="{0E124EF7-F591-CF2C-98C2-814D1401FB07}"/>
          </ac:spMkLst>
        </pc:spChg>
        <pc:spChg chg="ord">
          <ac:chgData name="Klaudio K" userId="22aa2f57b105aa51" providerId="LiveId" clId="{1F841378-2D34-4BCD-BAA5-B4669251F875}" dt="2026-04-09T10:04:14.778" v="38" actId="167"/>
          <ac:spMkLst>
            <pc:docMk/>
            <pc:sldMk cId="316744986" sldId="297"/>
            <ac:spMk id="55" creationId="{B406AC88-D566-1986-C950-96560EC9A45E}"/>
          </ac:spMkLst>
        </pc:spChg>
        <pc:spChg chg="mod">
          <ac:chgData name="Klaudio K" userId="22aa2f57b105aa51" providerId="LiveId" clId="{1F841378-2D34-4BCD-BAA5-B4669251F875}" dt="2026-04-09T10:04:28.805" v="43" actId="207"/>
          <ac:spMkLst>
            <pc:docMk/>
            <pc:sldMk cId="316744986" sldId="297"/>
            <ac:spMk id="56" creationId="{CBC32385-13E5-9C39-17B4-C552748E8053}"/>
          </ac:spMkLst>
        </pc:spChg>
        <pc:spChg chg="mod">
          <ac:chgData name="Klaudio K" userId="22aa2f57b105aa51" providerId="LiveId" clId="{1F841378-2D34-4BCD-BAA5-B4669251F875}" dt="2026-04-09T10:04:28.805" v="43" actId="207"/>
          <ac:spMkLst>
            <pc:docMk/>
            <pc:sldMk cId="316744986" sldId="297"/>
            <ac:spMk id="57" creationId="{A362FF41-3E13-5122-FB2D-10FCBC30865A}"/>
          </ac:spMkLst>
        </pc:spChg>
        <pc:spChg chg="mod">
          <ac:chgData name="Klaudio K" userId="22aa2f57b105aa51" providerId="LiveId" clId="{1F841378-2D34-4BCD-BAA5-B4669251F875}" dt="2026-04-09T10:01:10.365" v="16" actId="207"/>
          <ac:spMkLst>
            <pc:docMk/>
            <pc:sldMk cId="316744986" sldId="297"/>
            <ac:spMk id="58" creationId="{75C6AAB4-DBF3-93E7-A67D-012AEC030437}"/>
          </ac:spMkLst>
        </pc:spChg>
        <pc:spChg chg="mod">
          <ac:chgData name="Klaudio K" userId="22aa2f57b105aa51" providerId="LiveId" clId="{1F841378-2D34-4BCD-BAA5-B4669251F875}" dt="2026-04-09T10:04:28.805" v="43" actId="207"/>
          <ac:spMkLst>
            <pc:docMk/>
            <pc:sldMk cId="316744986" sldId="297"/>
            <ac:spMk id="59" creationId="{4F6FC297-B8E9-A7AA-4548-20520499EDD0}"/>
          </ac:spMkLst>
        </pc:spChg>
        <pc:spChg chg="mod">
          <ac:chgData name="Klaudio K" userId="22aa2f57b105aa51" providerId="LiveId" clId="{1F841378-2D34-4BCD-BAA5-B4669251F875}" dt="2026-04-09T10:04:28.805" v="43" actId="207"/>
          <ac:spMkLst>
            <pc:docMk/>
            <pc:sldMk cId="316744986" sldId="297"/>
            <ac:spMk id="60" creationId="{32855DD3-CD0C-FFBB-1E5A-2FB39E1B64E6}"/>
          </ac:spMkLst>
        </pc:spChg>
        <pc:spChg chg="mod">
          <ac:chgData name="Klaudio K" userId="22aa2f57b105aa51" providerId="LiveId" clId="{1F841378-2D34-4BCD-BAA5-B4669251F875}" dt="2026-04-09T10:01:10.365" v="16" actId="207"/>
          <ac:spMkLst>
            <pc:docMk/>
            <pc:sldMk cId="316744986" sldId="297"/>
            <ac:spMk id="61" creationId="{FFA320CF-5130-3D13-16E0-2AE0F4DA1881}"/>
          </ac:spMkLst>
        </pc:spChg>
        <pc:spChg chg="mod">
          <ac:chgData name="Klaudio K" userId="22aa2f57b105aa51" providerId="LiveId" clId="{1F841378-2D34-4BCD-BAA5-B4669251F875}" dt="2026-04-09T09:59:35.167" v="9" actId="207"/>
          <ac:spMkLst>
            <pc:docMk/>
            <pc:sldMk cId="316744986" sldId="297"/>
            <ac:spMk id="67" creationId="{098331B0-A073-4263-8F14-853D9E50413D}"/>
          </ac:spMkLst>
        </pc:spChg>
        <pc:spChg chg="mod">
          <ac:chgData name="Klaudio K" userId="22aa2f57b105aa51" providerId="LiveId" clId="{1F841378-2D34-4BCD-BAA5-B4669251F875}" dt="2026-04-09T09:59:42.850" v="10" actId="207"/>
          <ac:spMkLst>
            <pc:docMk/>
            <pc:sldMk cId="316744986" sldId="297"/>
            <ac:spMk id="68" creationId="{FA9CE7F3-D964-A822-0A74-5431B229B87F}"/>
          </ac:spMkLst>
        </pc:spChg>
        <pc:spChg chg="mod">
          <ac:chgData name="Klaudio K" userId="22aa2f57b105aa51" providerId="LiveId" clId="{1F841378-2D34-4BCD-BAA5-B4669251F875}" dt="2026-04-09T09:59:35.167" v="9" actId="207"/>
          <ac:spMkLst>
            <pc:docMk/>
            <pc:sldMk cId="316744986" sldId="297"/>
            <ac:spMk id="69" creationId="{F5EE8F2C-2449-6C02-F5E5-CB448703DC64}"/>
          </ac:spMkLst>
        </pc:spChg>
        <pc:spChg chg="mod">
          <ac:chgData name="Klaudio K" userId="22aa2f57b105aa51" providerId="LiveId" clId="{1F841378-2D34-4BCD-BAA5-B4669251F875}" dt="2026-04-09T09:59:42.850" v="10" actId="207"/>
          <ac:spMkLst>
            <pc:docMk/>
            <pc:sldMk cId="316744986" sldId="297"/>
            <ac:spMk id="73" creationId="{92EE8E51-02AC-C0F3-6594-76AC7D601D31}"/>
          </ac:spMkLst>
        </pc:spChg>
        <pc:spChg chg="mod">
          <ac:chgData name="Klaudio K" userId="22aa2f57b105aa51" providerId="LiveId" clId="{1F841378-2D34-4BCD-BAA5-B4669251F875}" dt="2026-04-09T09:59:35.167" v="9" actId="207"/>
          <ac:spMkLst>
            <pc:docMk/>
            <pc:sldMk cId="316744986" sldId="297"/>
            <ac:spMk id="74" creationId="{0268DB2E-BBB2-A407-158B-8FE71BCA9E4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20.04.2026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515346"/>
            <a:ext cx="9144000" cy="2387600"/>
          </a:xfrm>
        </p:spPr>
        <p:txBody>
          <a:bodyPr>
            <a:normAutofit/>
          </a:bodyPr>
          <a:lstStyle/>
          <a:p>
            <a:r>
              <a:rPr lang="de-DE" sz="4800"/>
              <a:t>PATTERN SEARCH ON A 3x3 GRID USING QUANTUM GROVER ALGORITHM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188750"/>
            <a:ext cx="9144000" cy="165576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 dirty="0"/>
              <a:t>Computer Engineering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Project </a:t>
            </a:r>
            <a:r>
              <a:rPr lang="de-DE" dirty="0" err="1"/>
              <a:t>work</a:t>
            </a:r>
            <a:r>
              <a:rPr lang="de-DE" dirty="0"/>
              <a:t> </a:t>
            </a:r>
            <a:r>
              <a:rPr lang="de-DE" dirty="0" err="1"/>
              <a:t>of</a:t>
            </a:r>
            <a:br>
              <a:rPr lang="de-DE" dirty="0"/>
            </a:br>
            <a:r>
              <a:rPr lang="de-DE" dirty="0"/>
              <a:t>Quantum Computing and Quantum Internet</a:t>
            </a:r>
            <a:br>
              <a:rPr lang="de-DE" dirty="0"/>
            </a:br>
            <a:endParaRPr lang="de-DE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771FBC1-2122-3119-9544-C55184115F72}"/>
              </a:ext>
            </a:extLst>
          </p:cNvPr>
          <p:cNvSpPr txBox="1"/>
          <p:nvPr/>
        </p:nvSpPr>
        <p:spPr>
          <a:xfrm>
            <a:off x="426523" y="5270616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Team </a:t>
            </a:r>
            <a:r>
              <a:rPr lang="it-IT" dirty="0" err="1"/>
              <a:t>members</a:t>
            </a:r>
            <a:r>
              <a:rPr lang="it-IT" dirty="0"/>
              <a:t>:</a:t>
            </a:r>
            <a:br>
              <a:rPr lang="it-IT" dirty="0"/>
            </a:br>
            <a:r>
              <a:rPr lang="it-IT" dirty="0" err="1"/>
              <a:t>Klaudio</a:t>
            </a:r>
            <a:r>
              <a:rPr lang="it-IT" dirty="0"/>
              <a:t> </a:t>
            </a:r>
            <a:r>
              <a:rPr lang="it-IT" dirty="0" err="1">
                <a:solidFill>
                  <a:srgbClr val="000000"/>
                </a:solidFill>
                <a:ea typeface="+mn-lt"/>
                <a:cs typeface="+mn-lt"/>
              </a:rPr>
              <a:t>Çaça</a:t>
            </a:r>
            <a:br>
              <a:rPr lang="it-IT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it-IT" dirty="0">
                <a:solidFill>
                  <a:srgbClr val="000000"/>
                </a:solidFill>
              </a:rPr>
              <a:t>Lorenzo Vanni</a:t>
            </a:r>
          </a:p>
        </p:txBody>
      </p:sp>
      <p:pic>
        <p:nvPicPr>
          <p:cNvPr id="5" name="Immagine 4" descr="Immagine che contiene Carattere, arte, Elementi grafici, cerchio&#10;&#10;Il contenuto generato dall&amp;#39;IA potrebbe non essere corretto.">
            <a:extLst>
              <a:ext uri="{FF2B5EF4-FFF2-40B4-BE49-F238E27FC236}">
                <a16:creationId xmlns:a16="http://schemas.microsoft.com/office/drawing/2014/main" id="{500D0DD8-6A6E-3AA2-B3EE-AB8D2FFCB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043" y="3981853"/>
            <a:ext cx="265747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AA2E6F-7453-2D18-4ECB-1F09ECD66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/>
              <a:t>PATTERN SEARCH: CLASSICAL VS QUANTUM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D54639-8C3C-6507-A012-A9F0F0987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6584"/>
            <a:ext cx="10515600" cy="32566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it-IT" sz="2400" b="1" dirty="0" err="1"/>
              <a:t>Problem</a:t>
            </a:r>
            <a:r>
              <a:rPr lang="it-IT" sz="2400" b="1" dirty="0"/>
              <a:t> </a:t>
            </a:r>
            <a:r>
              <a:rPr lang="it-IT" sz="2400" b="1" dirty="0" err="1"/>
              <a:t>description</a:t>
            </a:r>
            <a:r>
              <a:rPr lang="it-IT" sz="2400" dirty="0"/>
              <a:t>: </a:t>
            </a:r>
            <a:r>
              <a:rPr lang="it-IT" sz="2400" dirty="0" err="1">
                <a:ea typeface="+mn-lt"/>
                <a:cs typeface="+mn-lt"/>
              </a:rPr>
              <a:t>Finding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specific</a:t>
            </a:r>
            <a:r>
              <a:rPr lang="it-IT" sz="2400" dirty="0">
                <a:ea typeface="+mn-lt"/>
                <a:cs typeface="+mn-lt"/>
              </a:rPr>
              <a:t> patterns </a:t>
            </a:r>
            <a:r>
              <a:rPr lang="it-IT" sz="2400" dirty="0" err="1">
                <a:ea typeface="+mn-lt"/>
                <a:cs typeface="+mn-lt"/>
              </a:rPr>
              <a:t>within</a:t>
            </a:r>
            <a:r>
              <a:rPr lang="it-IT" sz="2400" dirty="0">
                <a:ea typeface="+mn-lt"/>
                <a:cs typeface="+mn-lt"/>
              </a:rPr>
              <a:t> a 3x3 </a:t>
            </a:r>
            <a:r>
              <a:rPr lang="it-IT" sz="2400" dirty="0" err="1">
                <a:ea typeface="+mn-lt"/>
                <a:cs typeface="+mn-lt"/>
              </a:rPr>
              <a:t>grid</a:t>
            </a:r>
            <a:r>
              <a:rPr lang="it-IT" sz="2400" dirty="0">
                <a:ea typeface="+mn-lt"/>
                <a:cs typeface="+mn-lt"/>
              </a:rPr>
              <a:t> of </a:t>
            </a:r>
            <a:r>
              <a:rPr lang="it-IT" sz="2400" dirty="0" err="1">
                <a:ea typeface="+mn-lt"/>
                <a:cs typeface="+mn-lt"/>
              </a:rPr>
              <a:t>binary</a:t>
            </a:r>
            <a:r>
              <a:rPr lang="it-IT" sz="2400" dirty="0">
                <a:ea typeface="+mn-lt"/>
                <a:cs typeface="+mn-lt"/>
              </a:rPr>
              <a:t> pixels. </a:t>
            </a:r>
            <a:r>
              <a:rPr lang="it-IT" sz="2400" dirty="0" err="1">
                <a:ea typeface="+mn-lt"/>
                <a:cs typeface="+mn-lt"/>
              </a:rPr>
              <a:t>Each</a:t>
            </a:r>
            <a:r>
              <a:rPr lang="it-IT" sz="2400" dirty="0">
                <a:ea typeface="+mn-lt"/>
                <a:cs typeface="+mn-lt"/>
              </a:rPr>
              <a:t> pixel can be "on" (1) or "off" (0), </a:t>
            </a:r>
            <a:r>
              <a:rPr lang="it-IT" sz="2400" dirty="0" err="1">
                <a:ea typeface="+mn-lt"/>
                <a:cs typeface="+mn-lt"/>
              </a:rPr>
              <a:t>creating</a:t>
            </a:r>
            <a:r>
              <a:rPr lang="it-IT" sz="2400" dirty="0">
                <a:ea typeface="+mn-lt"/>
                <a:cs typeface="+mn-lt"/>
              </a:rPr>
              <a:t> a </a:t>
            </a:r>
            <a:r>
              <a:rPr lang="it-IT" sz="2400" dirty="0" err="1">
                <a:ea typeface="+mn-lt"/>
                <a:cs typeface="+mn-lt"/>
              </a:rPr>
              <a:t>total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search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space</a:t>
            </a:r>
            <a:r>
              <a:rPr lang="it-IT" sz="2400" dirty="0">
                <a:ea typeface="+mn-lt"/>
                <a:cs typeface="+mn-lt"/>
              </a:rPr>
              <a:t> of 2^9 = 512 </a:t>
            </a:r>
            <a:r>
              <a:rPr lang="it-IT" sz="2400" dirty="0" err="1">
                <a:ea typeface="+mn-lt"/>
                <a:cs typeface="+mn-lt"/>
              </a:rPr>
              <a:t>possible</a:t>
            </a:r>
            <a:r>
              <a:rPr lang="it-IT" sz="2400" dirty="0">
                <a:ea typeface="+mn-lt"/>
                <a:cs typeface="+mn-lt"/>
              </a:rPr>
              <a:t> images.</a:t>
            </a:r>
            <a:br>
              <a:rPr lang="it-IT" sz="2400" dirty="0">
                <a:ea typeface="+mn-lt"/>
                <a:cs typeface="+mn-lt"/>
              </a:rPr>
            </a:br>
            <a:endParaRPr lang="it-IT" sz="2400" dirty="0"/>
          </a:p>
          <a:p>
            <a:pPr marL="342900" indent="-342900"/>
            <a:r>
              <a:rPr lang="it-IT" sz="2400" b="1" dirty="0"/>
              <a:t>Tools</a:t>
            </a:r>
            <a:r>
              <a:rPr lang="it-IT" sz="2400" dirty="0"/>
              <a:t>: </a:t>
            </a:r>
            <a:r>
              <a:rPr lang="it-IT" sz="2400" dirty="0" err="1">
                <a:ea typeface="+mn-lt"/>
                <a:cs typeface="+mn-lt"/>
              </a:rPr>
              <a:t>This</a:t>
            </a:r>
            <a:r>
              <a:rPr lang="it-IT" sz="2400" dirty="0">
                <a:ea typeface="+mn-lt"/>
                <a:cs typeface="+mn-lt"/>
              </a:rPr>
              <a:t> project </a:t>
            </a:r>
            <a:r>
              <a:rPr lang="it-IT" sz="2400" dirty="0" err="1">
                <a:ea typeface="+mn-lt"/>
                <a:cs typeface="+mn-lt"/>
              </a:rPr>
              <a:t>compares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three</a:t>
            </a:r>
            <a:r>
              <a:rPr lang="it-IT" sz="2400" dirty="0">
                <a:ea typeface="+mn-lt"/>
                <a:cs typeface="+mn-lt"/>
              </a:rPr>
              <a:t> </a:t>
            </a:r>
            <a:r>
              <a:rPr lang="it-IT" sz="2400" dirty="0" err="1">
                <a:ea typeface="+mn-lt"/>
                <a:cs typeface="+mn-lt"/>
              </a:rPr>
              <a:t>different</a:t>
            </a:r>
            <a:r>
              <a:rPr lang="it-IT" sz="2400" dirty="0">
                <a:ea typeface="+mn-lt"/>
                <a:cs typeface="+mn-lt"/>
              </a:rPr>
              <a:t> computing </a:t>
            </a:r>
            <a:r>
              <a:rPr lang="it-IT" sz="2400" dirty="0" err="1">
                <a:ea typeface="+mn-lt"/>
                <a:cs typeface="+mn-lt"/>
              </a:rPr>
              <a:t>realms</a:t>
            </a:r>
            <a:r>
              <a:rPr lang="it-IT" sz="2400" dirty="0">
                <a:ea typeface="+mn-lt"/>
                <a:cs typeface="+mn-lt"/>
              </a:rPr>
              <a:t>:</a:t>
            </a:r>
          </a:p>
          <a:p>
            <a:pPr marL="914400" lvl="1" indent="-457200">
              <a:buAutoNum type="arabicPeriod"/>
            </a:pPr>
            <a:r>
              <a:rPr lang="it-IT" sz="2000" b="1" dirty="0" err="1">
                <a:ea typeface="+mn-lt"/>
                <a:cs typeface="+mn-lt"/>
              </a:rPr>
              <a:t>Classical</a:t>
            </a:r>
            <a:r>
              <a:rPr lang="it-IT" sz="2000" b="1" dirty="0">
                <a:ea typeface="+mn-lt"/>
                <a:cs typeface="+mn-lt"/>
              </a:rPr>
              <a:t>:</a:t>
            </a:r>
            <a:r>
              <a:rPr lang="it-IT" sz="2000" dirty="0">
                <a:ea typeface="+mn-lt"/>
                <a:cs typeface="+mn-lt"/>
              </a:rPr>
              <a:t> A Python script to </a:t>
            </a:r>
            <a:r>
              <a:rPr lang="it-IT" sz="2000" dirty="0" err="1">
                <a:ea typeface="+mn-lt"/>
                <a:cs typeface="+mn-lt"/>
              </a:rPr>
              <a:t>establish</a:t>
            </a:r>
            <a:r>
              <a:rPr lang="it-IT" sz="2000" dirty="0">
                <a:ea typeface="+mn-lt"/>
                <a:cs typeface="+mn-lt"/>
              </a:rPr>
              <a:t> the baseline.</a:t>
            </a:r>
          </a:p>
          <a:p>
            <a:pPr marL="914400" lvl="1" indent="-457200">
              <a:buAutoNum type="arabicPeriod"/>
            </a:pPr>
            <a:r>
              <a:rPr lang="it-IT" sz="2000" b="1" dirty="0" err="1">
                <a:ea typeface="+mn-lt"/>
                <a:cs typeface="+mn-lt"/>
              </a:rPr>
              <a:t>Qiskit</a:t>
            </a:r>
            <a:r>
              <a:rPr lang="it-IT" sz="2000" b="1" dirty="0">
                <a:ea typeface="+mn-lt"/>
                <a:cs typeface="+mn-lt"/>
              </a:rPr>
              <a:t> (Python):</a:t>
            </a:r>
            <a:r>
              <a:rPr lang="it-IT" sz="2000" dirty="0">
                <a:ea typeface="+mn-lt"/>
                <a:cs typeface="+mn-lt"/>
              </a:rPr>
              <a:t> To simulate the quantum </a:t>
            </a:r>
            <a:r>
              <a:rPr lang="it-IT" sz="2000" dirty="0" err="1">
                <a:ea typeface="+mn-lt"/>
                <a:cs typeface="+mn-lt"/>
              </a:rPr>
              <a:t>algorithm</a:t>
            </a:r>
            <a:r>
              <a:rPr lang="it-IT" sz="2000" dirty="0">
                <a:ea typeface="+mn-lt"/>
                <a:cs typeface="+mn-lt"/>
              </a:rPr>
              <a:t>, with bit flip and </a:t>
            </a:r>
            <a:r>
              <a:rPr lang="it-IT" sz="2000" dirty="0" err="1">
                <a:ea typeface="+mn-lt"/>
                <a:cs typeface="+mn-lt"/>
              </a:rPr>
              <a:t>depolarizing</a:t>
            </a: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dirty="0" err="1">
                <a:ea typeface="+mn-lt"/>
                <a:cs typeface="+mn-lt"/>
              </a:rPr>
              <a:t>noise</a:t>
            </a:r>
            <a:r>
              <a:rPr lang="it-IT" sz="2000" dirty="0">
                <a:ea typeface="+mn-lt"/>
                <a:cs typeface="+mn-lt"/>
              </a:rPr>
              <a:t> and test </a:t>
            </a:r>
            <a:r>
              <a:rPr lang="it-IT" sz="2000" dirty="0" err="1">
                <a:ea typeface="+mn-lt"/>
                <a:cs typeface="+mn-lt"/>
              </a:rPr>
              <a:t>it</a:t>
            </a:r>
            <a:r>
              <a:rPr lang="it-IT" sz="2000" dirty="0">
                <a:ea typeface="+mn-lt"/>
                <a:cs typeface="+mn-lt"/>
              </a:rPr>
              <a:t> on </a:t>
            </a:r>
            <a:r>
              <a:rPr lang="it-IT" sz="2000" dirty="0" err="1">
                <a:ea typeface="+mn-lt"/>
                <a:cs typeface="+mn-lt"/>
              </a:rPr>
              <a:t>real</a:t>
            </a:r>
            <a:r>
              <a:rPr lang="it-IT" sz="2000" dirty="0">
                <a:ea typeface="+mn-lt"/>
                <a:cs typeface="+mn-lt"/>
              </a:rPr>
              <a:t> IBM hardware (</a:t>
            </a:r>
            <a:r>
              <a:rPr lang="it-IT" sz="2000" dirty="0" err="1">
                <a:ea typeface="+mn-lt"/>
                <a:cs typeface="+mn-lt"/>
              </a:rPr>
              <a:t>FakeKolkata</a:t>
            </a:r>
            <a:r>
              <a:rPr lang="it-IT" sz="2000" dirty="0">
                <a:ea typeface="+mn-lt"/>
                <a:cs typeface="+mn-lt"/>
              </a:rPr>
              <a:t>).</a:t>
            </a:r>
          </a:p>
          <a:p>
            <a:pPr marL="914400" lvl="1" indent="-457200">
              <a:buAutoNum type="arabicPeriod"/>
            </a:pPr>
            <a:r>
              <a:rPr lang="it-IT" sz="2000" b="1" dirty="0" err="1">
                <a:ea typeface="+mn-lt"/>
                <a:cs typeface="+mn-lt"/>
              </a:rPr>
              <a:t>QuantumSavory</a:t>
            </a:r>
            <a:r>
              <a:rPr lang="it-IT" sz="2000" b="1" dirty="0">
                <a:ea typeface="+mn-lt"/>
                <a:cs typeface="+mn-lt"/>
              </a:rPr>
              <a:t> (Julia):</a:t>
            </a:r>
            <a:r>
              <a:rPr lang="it-IT" sz="2000" dirty="0">
                <a:ea typeface="+mn-lt"/>
                <a:cs typeface="+mn-lt"/>
              </a:rPr>
              <a:t> To </a:t>
            </a:r>
            <a:r>
              <a:rPr lang="it-IT" sz="2000" dirty="0" err="1">
                <a:ea typeface="+mn-lt"/>
                <a:cs typeface="+mn-lt"/>
              </a:rPr>
              <a:t>analyze</a:t>
            </a:r>
            <a:r>
              <a:rPr lang="it-IT" sz="2000" dirty="0">
                <a:ea typeface="+mn-lt"/>
                <a:cs typeface="+mn-lt"/>
              </a:rPr>
              <a:t> the time </a:t>
            </a:r>
            <a:r>
              <a:rPr lang="it-IT" sz="2000" dirty="0" err="1">
                <a:ea typeface="+mn-lt"/>
                <a:cs typeface="+mn-lt"/>
              </a:rPr>
              <a:t>evolution</a:t>
            </a:r>
            <a:r>
              <a:rPr lang="it-IT" sz="2000" dirty="0">
                <a:ea typeface="+mn-lt"/>
                <a:cs typeface="+mn-lt"/>
              </a:rPr>
              <a:t> of the system and </a:t>
            </a:r>
            <a:r>
              <a:rPr lang="it-IT" sz="2000" dirty="0" err="1">
                <a:ea typeface="+mn-lt"/>
                <a:cs typeface="+mn-lt"/>
              </a:rPr>
              <a:t>its</a:t>
            </a: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dirty="0" err="1">
                <a:ea typeface="+mn-lt"/>
                <a:cs typeface="+mn-lt"/>
              </a:rPr>
              <a:t>resilience</a:t>
            </a:r>
            <a:r>
              <a:rPr lang="it-IT" sz="2000" dirty="0">
                <a:ea typeface="+mn-lt"/>
                <a:cs typeface="+mn-lt"/>
              </a:rPr>
              <a:t> to </a:t>
            </a:r>
            <a:r>
              <a:rPr lang="it-IT" sz="2000" dirty="0" err="1">
                <a:ea typeface="+mn-lt"/>
                <a:cs typeface="+mn-lt"/>
              </a:rPr>
              <a:t>continuous</a:t>
            </a: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dirty="0" err="1">
                <a:ea typeface="+mn-lt"/>
                <a:cs typeface="+mn-lt"/>
              </a:rPr>
              <a:t>noise</a:t>
            </a:r>
            <a:r>
              <a:rPr lang="it-IT" sz="2000" dirty="0">
                <a:ea typeface="+mn-lt"/>
                <a:cs typeface="+mn-lt"/>
              </a:rPr>
              <a:t> (</a:t>
            </a:r>
            <a:r>
              <a:rPr lang="it-IT" sz="2000" dirty="0" err="1">
                <a:ea typeface="+mn-lt"/>
                <a:cs typeface="+mn-lt"/>
              </a:rPr>
              <a:t>depolarization</a:t>
            </a:r>
            <a:r>
              <a:rPr lang="it-IT" sz="2000" dirty="0">
                <a:ea typeface="+mn-lt"/>
                <a:cs typeface="+mn-lt"/>
              </a:rPr>
              <a:t>).</a:t>
            </a:r>
          </a:p>
          <a:p>
            <a:pPr marL="457200" lvl="1" indent="0">
              <a:buNone/>
            </a:pPr>
            <a:endParaRPr lang="it-IT" sz="2000" dirty="0">
              <a:ea typeface="+mn-lt"/>
              <a:cs typeface="+mn-lt"/>
            </a:endParaRP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CB485176-FB3C-01B6-2C7E-C702BE6CDC38}"/>
              </a:ext>
            </a:extLst>
          </p:cNvPr>
          <p:cNvSpPr txBox="1">
            <a:spLocks/>
          </p:cNvSpPr>
          <p:nvPr/>
        </p:nvSpPr>
        <p:spPr>
          <a:xfrm>
            <a:off x="378853" y="5562645"/>
            <a:ext cx="10515600" cy="1850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2400" b="1" dirty="0"/>
              <a:t>Performance </a:t>
            </a:r>
            <a:r>
              <a:rPr lang="it-IT" sz="2400" b="1" dirty="0" err="1"/>
              <a:t>metrics</a:t>
            </a:r>
            <a:r>
              <a:rPr lang="it-IT" sz="2400" b="1" dirty="0"/>
              <a:t>: </a:t>
            </a:r>
            <a:endParaRPr lang="it-IT" sz="2000" dirty="0">
              <a:ea typeface="+mn-lt"/>
              <a:cs typeface="+mn-lt"/>
            </a:endParaRP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7E34C840-A7DF-85C8-B6DB-ABA926E6E414}"/>
              </a:ext>
            </a:extLst>
          </p:cNvPr>
          <p:cNvSpPr/>
          <p:nvPr/>
        </p:nvSpPr>
        <p:spPr>
          <a:xfrm rot="21000000">
            <a:off x="3781591" y="5415676"/>
            <a:ext cx="1843192" cy="30465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ccia a destra 8">
            <a:extLst>
              <a:ext uri="{FF2B5EF4-FFF2-40B4-BE49-F238E27FC236}">
                <a16:creationId xmlns:a16="http://schemas.microsoft.com/office/drawing/2014/main" id="{9FBC1018-E446-4895-78BC-1A9689C15FDE}"/>
              </a:ext>
            </a:extLst>
          </p:cNvPr>
          <p:cNvSpPr/>
          <p:nvPr/>
        </p:nvSpPr>
        <p:spPr>
          <a:xfrm rot="720000">
            <a:off x="3770858" y="6145478"/>
            <a:ext cx="1843192" cy="30465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65BF2A7-6C52-A457-E64C-64489B99BFB3}"/>
              </a:ext>
            </a:extLst>
          </p:cNvPr>
          <p:cNvSpPr txBox="1"/>
          <p:nvPr/>
        </p:nvSpPr>
        <p:spPr>
          <a:xfrm>
            <a:off x="5769150" y="5252614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b="1"/>
              <a:t>Oracle calls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716C1AC-11A6-24BE-9B24-8BD538B8AA94}"/>
              </a:ext>
            </a:extLst>
          </p:cNvPr>
          <p:cNvSpPr txBox="1"/>
          <p:nvPr/>
        </p:nvSpPr>
        <p:spPr>
          <a:xfrm>
            <a:off x="5769150" y="6282923"/>
            <a:ext cx="362325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 b="1" dirty="0" err="1"/>
              <a:t>Succes</a:t>
            </a:r>
            <a:r>
              <a:rPr lang="it-IT" sz="2000" b="1" dirty="0"/>
              <a:t> Rate and </a:t>
            </a:r>
            <a:r>
              <a:rPr lang="it-IT" sz="2000" b="1" dirty="0" err="1"/>
              <a:t>Resiliency</a:t>
            </a:r>
            <a:endParaRPr lang="it-IT" sz="2000" b="1" dirty="0"/>
          </a:p>
        </p:txBody>
      </p:sp>
    </p:spTree>
    <p:extLst>
      <p:ext uri="{BB962C8B-B14F-4D97-AF65-F5344CB8AC3E}">
        <p14:creationId xmlns:p14="http://schemas.microsoft.com/office/powerpoint/2010/main" val="305107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6CA81-BFB3-3536-AC06-692484D7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4B27B2-8D27-9886-A7AC-3AA2FC55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ea typeface="+mj-lt"/>
                <a:cs typeface="+mj-lt"/>
              </a:rPr>
              <a:t>The Oracle and the 4 Target Patterns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662A08-C75F-4A5B-4AF7-578DD647D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0499"/>
            <a:ext cx="10515600" cy="16789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b="1" dirty="0">
                <a:ea typeface="+mn-lt"/>
                <a:cs typeface="+mn-lt"/>
              </a:rPr>
              <a:t>Oracle Definition:</a:t>
            </a:r>
            <a:r>
              <a:rPr lang="it-IT" dirty="0">
                <a:ea typeface="+mn-lt"/>
                <a:cs typeface="+mn-lt"/>
              </a:rPr>
              <a:t> A black-box </a:t>
            </a:r>
            <a:r>
              <a:rPr lang="it-IT" dirty="0" err="1">
                <a:ea typeface="+mn-lt"/>
                <a:cs typeface="+mn-lt"/>
              </a:rPr>
              <a:t>function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i="1" dirty="0">
                <a:ea typeface="+mn-lt"/>
                <a:cs typeface="+mn-lt"/>
              </a:rPr>
              <a:t>f(x)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that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evaluates</a:t>
            </a:r>
            <a:r>
              <a:rPr lang="it-IT" dirty="0">
                <a:ea typeface="+mn-lt"/>
                <a:cs typeface="+mn-lt"/>
              </a:rPr>
              <a:t> an image and </a:t>
            </a:r>
            <a:r>
              <a:rPr lang="it-IT" dirty="0" err="1">
                <a:ea typeface="+mn-lt"/>
                <a:cs typeface="+mn-lt"/>
              </a:rPr>
              <a:t>returns</a:t>
            </a:r>
            <a:r>
              <a:rPr lang="it-IT" dirty="0">
                <a:ea typeface="+mn-lt"/>
                <a:cs typeface="+mn-lt"/>
              </a:rPr>
              <a:t> 1 </a:t>
            </a:r>
            <a:r>
              <a:rPr lang="it-IT" dirty="0" err="1">
                <a:ea typeface="+mn-lt"/>
                <a:cs typeface="+mn-lt"/>
              </a:rPr>
              <a:t>if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it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meets</a:t>
            </a:r>
            <a:r>
              <a:rPr lang="it-IT" dirty="0">
                <a:ea typeface="+mn-lt"/>
                <a:cs typeface="+mn-lt"/>
              </a:rPr>
              <a:t> a </a:t>
            </a:r>
            <a:r>
              <a:rPr lang="it-IT" dirty="0" err="1">
                <a:ea typeface="+mn-lt"/>
                <a:cs typeface="+mn-lt"/>
              </a:rPr>
              <a:t>hidden</a:t>
            </a:r>
            <a:r>
              <a:rPr lang="it-IT" dirty="0">
                <a:ea typeface="+mn-lt"/>
                <a:cs typeface="+mn-lt"/>
              </a:rPr>
              <a:t> rule ("Good"), or 0 </a:t>
            </a:r>
            <a:r>
              <a:rPr lang="it-IT" dirty="0" err="1">
                <a:ea typeface="+mn-lt"/>
                <a:cs typeface="+mn-lt"/>
              </a:rPr>
              <a:t>if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it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doesn't</a:t>
            </a:r>
            <a:r>
              <a:rPr lang="it-IT" dirty="0">
                <a:ea typeface="+mn-lt"/>
                <a:cs typeface="+mn-lt"/>
              </a:rPr>
              <a:t> ("</a:t>
            </a:r>
            <a:r>
              <a:rPr lang="it-IT" dirty="0" err="1">
                <a:ea typeface="+mn-lt"/>
                <a:cs typeface="+mn-lt"/>
              </a:rPr>
              <a:t>Bad</a:t>
            </a:r>
            <a:r>
              <a:rPr lang="it-IT" dirty="0">
                <a:ea typeface="+mn-lt"/>
                <a:cs typeface="+mn-lt"/>
              </a:rPr>
              <a:t>").</a:t>
            </a:r>
          </a:p>
        </p:txBody>
      </p:sp>
      <p:sp>
        <p:nvSpPr>
          <p:cNvPr id="35" name="Rettangolo 34">
            <a:extLst>
              <a:ext uri="{FF2B5EF4-FFF2-40B4-BE49-F238E27FC236}">
                <a16:creationId xmlns:a16="http://schemas.microsoft.com/office/drawing/2014/main" id="{F4856473-F6E8-7C7A-FFD0-01A174DA1692}"/>
              </a:ext>
            </a:extLst>
          </p:cNvPr>
          <p:cNvSpPr/>
          <p:nvPr/>
        </p:nvSpPr>
        <p:spPr>
          <a:xfrm>
            <a:off x="9171673" y="4439728"/>
            <a:ext cx="2067188" cy="166593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[[</a:t>
            </a:r>
          </a:p>
        </p:txBody>
      </p:sp>
      <p:sp>
        <p:nvSpPr>
          <p:cNvPr id="36" name="Connettore 35">
            <a:extLst>
              <a:ext uri="{FF2B5EF4-FFF2-40B4-BE49-F238E27FC236}">
                <a16:creationId xmlns:a16="http://schemas.microsoft.com/office/drawing/2014/main" id="{B22511C5-3002-F68B-46E2-0608A7750480}"/>
              </a:ext>
            </a:extLst>
          </p:cNvPr>
          <p:cNvSpPr/>
          <p:nvPr/>
        </p:nvSpPr>
        <p:spPr>
          <a:xfrm>
            <a:off x="10068019" y="4799783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onnettore 36">
            <a:extLst>
              <a:ext uri="{FF2B5EF4-FFF2-40B4-BE49-F238E27FC236}">
                <a16:creationId xmlns:a16="http://schemas.microsoft.com/office/drawing/2014/main" id="{455590EB-F9D0-369E-925D-A1D739E6A627}"/>
              </a:ext>
            </a:extLst>
          </p:cNvPr>
          <p:cNvSpPr/>
          <p:nvPr/>
        </p:nvSpPr>
        <p:spPr>
          <a:xfrm>
            <a:off x="9660188" y="4799783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38" name="Connettore 37">
            <a:extLst>
              <a:ext uri="{FF2B5EF4-FFF2-40B4-BE49-F238E27FC236}">
                <a16:creationId xmlns:a16="http://schemas.microsoft.com/office/drawing/2014/main" id="{A89D35D6-FB06-3DBF-6888-55DFE5B65E37}"/>
              </a:ext>
            </a:extLst>
          </p:cNvPr>
          <p:cNvSpPr/>
          <p:nvPr/>
        </p:nvSpPr>
        <p:spPr>
          <a:xfrm>
            <a:off x="10454385" y="4799783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39" name="Connettore 38">
            <a:extLst>
              <a:ext uri="{FF2B5EF4-FFF2-40B4-BE49-F238E27FC236}">
                <a16:creationId xmlns:a16="http://schemas.microsoft.com/office/drawing/2014/main" id="{BC709135-7861-E8FE-E2AA-B8E788B5AABA}"/>
              </a:ext>
            </a:extLst>
          </p:cNvPr>
          <p:cNvSpPr/>
          <p:nvPr/>
        </p:nvSpPr>
        <p:spPr>
          <a:xfrm>
            <a:off x="10057286" y="5153952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Connettore 39">
            <a:extLst>
              <a:ext uri="{FF2B5EF4-FFF2-40B4-BE49-F238E27FC236}">
                <a16:creationId xmlns:a16="http://schemas.microsoft.com/office/drawing/2014/main" id="{436A3CF3-91BD-71C9-C9E6-5CD56296C741}"/>
              </a:ext>
            </a:extLst>
          </p:cNvPr>
          <p:cNvSpPr/>
          <p:nvPr/>
        </p:nvSpPr>
        <p:spPr>
          <a:xfrm>
            <a:off x="9670920" y="5153952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41" name="Connettore 40">
            <a:extLst>
              <a:ext uri="{FF2B5EF4-FFF2-40B4-BE49-F238E27FC236}">
                <a16:creationId xmlns:a16="http://schemas.microsoft.com/office/drawing/2014/main" id="{BCD3EF10-50CA-C780-0E81-E4549D601791}"/>
              </a:ext>
            </a:extLst>
          </p:cNvPr>
          <p:cNvSpPr/>
          <p:nvPr/>
        </p:nvSpPr>
        <p:spPr>
          <a:xfrm>
            <a:off x="10443652" y="5153952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42" name="Connettore 41">
            <a:extLst>
              <a:ext uri="{FF2B5EF4-FFF2-40B4-BE49-F238E27FC236}">
                <a16:creationId xmlns:a16="http://schemas.microsoft.com/office/drawing/2014/main" id="{4A4E3EFE-866E-552F-68B4-C686417CA6FD}"/>
              </a:ext>
            </a:extLst>
          </p:cNvPr>
          <p:cNvSpPr/>
          <p:nvPr/>
        </p:nvSpPr>
        <p:spPr>
          <a:xfrm>
            <a:off x="10046553" y="5475924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onnettore 42">
            <a:extLst>
              <a:ext uri="{FF2B5EF4-FFF2-40B4-BE49-F238E27FC236}">
                <a16:creationId xmlns:a16="http://schemas.microsoft.com/office/drawing/2014/main" id="{7133D61C-3214-08EF-3ED9-7783E7C2AA4F}"/>
              </a:ext>
            </a:extLst>
          </p:cNvPr>
          <p:cNvSpPr/>
          <p:nvPr/>
        </p:nvSpPr>
        <p:spPr>
          <a:xfrm>
            <a:off x="9660187" y="5475924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44" name="Connettore 43">
            <a:extLst>
              <a:ext uri="{FF2B5EF4-FFF2-40B4-BE49-F238E27FC236}">
                <a16:creationId xmlns:a16="http://schemas.microsoft.com/office/drawing/2014/main" id="{BEBF5CB7-627A-9E95-4127-22FDC0B8FAE2}"/>
              </a:ext>
            </a:extLst>
          </p:cNvPr>
          <p:cNvSpPr/>
          <p:nvPr/>
        </p:nvSpPr>
        <p:spPr>
          <a:xfrm>
            <a:off x="10432920" y="5475924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6640E28C-E605-C8FA-65E9-25776AFA3251}"/>
              </a:ext>
            </a:extLst>
          </p:cNvPr>
          <p:cNvSpPr/>
          <p:nvPr/>
        </p:nvSpPr>
        <p:spPr>
          <a:xfrm>
            <a:off x="993588" y="4364600"/>
            <a:ext cx="2067188" cy="166593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[[</a:t>
            </a:r>
          </a:p>
        </p:txBody>
      </p:sp>
      <p:sp>
        <p:nvSpPr>
          <p:cNvPr id="46" name="Connettore 45">
            <a:extLst>
              <a:ext uri="{FF2B5EF4-FFF2-40B4-BE49-F238E27FC236}">
                <a16:creationId xmlns:a16="http://schemas.microsoft.com/office/drawing/2014/main" id="{CF943288-0C8E-B6C8-D53D-0F23902833D3}"/>
              </a:ext>
            </a:extLst>
          </p:cNvPr>
          <p:cNvSpPr/>
          <p:nvPr/>
        </p:nvSpPr>
        <p:spPr>
          <a:xfrm>
            <a:off x="1889934" y="4660262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Connettore 46">
            <a:extLst>
              <a:ext uri="{FF2B5EF4-FFF2-40B4-BE49-F238E27FC236}">
                <a16:creationId xmlns:a16="http://schemas.microsoft.com/office/drawing/2014/main" id="{63BC42D0-7347-1CC9-57C4-A0B7AD02BF8C}"/>
              </a:ext>
            </a:extLst>
          </p:cNvPr>
          <p:cNvSpPr/>
          <p:nvPr/>
        </p:nvSpPr>
        <p:spPr>
          <a:xfrm>
            <a:off x="1482103" y="4660262"/>
            <a:ext cx="262422" cy="262422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48" name="Connettore 47">
            <a:extLst>
              <a:ext uri="{FF2B5EF4-FFF2-40B4-BE49-F238E27FC236}">
                <a16:creationId xmlns:a16="http://schemas.microsoft.com/office/drawing/2014/main" id="{FA9E72CA-77C2-D9F0-660D-D63E85516116}"/>
              </a:ext>
            </a:extLst>
          </p:cNvPr>
          <p:cNvSpPr/>
          <p:nvPr/>
        </p:nvSpPr>
        <p:spPr>
          <a:xfrm>
            <a:off x="2276300" y="4660262"/>
            <a:ext cx="262422" cy="262422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49" name="Connettore 48">
            <a:extLst>
              <a:ext uri="{FF2B5EF4-FFF2-40B4-BE49-F238E27FC236}">
                <a16:creationId xmlns:a16="http://schemas.microsoft.com/office/drawing/2014/main" id="{3DD08FFA-F29F-94F3-D9F3-DA4FBF576A36}"/>
              </a:ext>
            </a:extLst>
          </p:cNvPr>
          <p:cNvSpPr/>
          <p:nvPr/>
        </p:nvSpPr>
        <p:spPr>
          <a:xfrm>
            <a:off x="1879201" y="5014431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Connettore 49">
            <a:extLst>
              <a:ext uri="{FF2B5EF4-FFF2-40B4-BE49-F238E27FC236}">
                <a16:creationId xmlns:a16="http://schemas.microsoft.com/office/drawing/2014/main" id="{49B54406-3AC2-720B-AD72-7255F36B687D}"/>
              </a:ext>
            </a:extLst>
          </p:cNvPr>
          <p:cNvSpPr/>
          <p:nvPr/>
        </p:nvSpPr>
        <p:spPr>
          <a:xfrm>
            <a:off x="1492835" y="5014431"/>
            <a:ext cx="262422" cy="262422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51" name="Connettore 50">
            <a:extLst>
              <a:ext uri="{FF2B5EF4-FFF2-40B4-BE49-F238E27FC236}">
                <a16:creationId xmlns:a16="http://schemas.microsoft.com/office/drawing/2014/main" id="{7E886E03-F35F-11A6-0442-FB50B8FED95F}"/>
              </a:ext>
            </a:extLst>
          </p:cNvPr>
          <p:cNvSpPr/>
          <p:nvPr/>
        </p:nvSpPr>
        <p:spPr>
          <a:xfrm>
            <a:off x="2265567" y="5014431"/>
            <a:ext cx="262422" cy="262422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52" name="Connettore 51">
            <a:extLst>
              <a:ext uri="{FF2B5EF4-FFF2-40B4-BE49-F238E27FC236}">
                <a16:creationId xmlns:a16="http://schemas.microsoft.com/office/drawing/2014/main" id="{86FC1049-53CB-A7CD-B3CE-E0E695D0C4D2}"/>
              </a:ext>
            </a:extLst>
          </p:cNvPr>
          <p:cNvSpPr/>
          <p:nvPr/>
        </p:nvSpPr>
        <p:spPr>
          <a:xfrm>
            <a:off x="1868468" y="5336404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Connettore 52">
            <a:extLst>
              <a:ext uri="{FF2B5EF4-FFF2-40B4-BE49-F238E27FC236}">
                <a16:creationId xmlns:a16="http://schemas.microsoft.com/office/drawing/2014/main" id="{4F06FB78-9A37-35A4-324B-8304B9067215}"/>
              </a:ext>
            </a:extLst>
          </p:cNvPr>
          <p:cNvSpPr/>
          <p:nvPr/>
        </p:nvSpPr>
        <p:spPr>
          <a:xfrm>
            <a:off x="1482102" y="5336404"/>
            <a:ext cx="262422" cy="262422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54" name="Connettore 53">
            <a:extLst>
              <a:ext uri="{FF2B5EF4-FFF2-40B4-BE49-F238E27FC236}">
                <a16:creationId xmlns:a16="http://schemas.microsoft.com/office/drawing/2014/main" id="{0E124EF7-F591-CF2C-98C2-814D1401FB07}"/>
              </a:ext>
            </a:extLst>
          </p:cNvPr>
          <p:cNvSpPr/>
          <p:nvPr/>
        </p:nvSpPr>
        <p:spPr>
          <a:xfrm>
            <a:off x="2254835" y="5336404"/>
            <a:ext cx="262422" cy="262422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B406AC88-D566-1986-C950-96560EC9A45E}"/>
              </a:ext>
            </a:extLst>
          </p:cNvPr>
          <p:cNvSpPr/>
          <p:nvPr/>
        </p:nvSpPr>
        <p:spPr>
          <a:xfrm>
            <a:off x="3794743" y="4386064"/>
            <a:ext cx="2067188" cy="16659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[[</a:t>
            </a:r>
          </a:p>
        </p:txBody>
      </p:sp>
      <p:sp>
        <p:nvSpPr>
          <p:cNvPr id="56" name="Connettore 55">
            <a:extLst>
              <a:ext uri="{FF2B5EF4-FFF2-40B4-BE49-F238E27FC236}">
                <a16:creationId xmlns:a16="http://schemas.microsoft.com/office/drawing/2014/main" id="{CBC32385-13E5-9C39-17B4-C552748E8053}"/>
              </a:ext>
            </a:extLst>
          </p:cNvPr>
          <p:cNvSpPr/>
          <p:nvPr/>
        </p:nvSpPr>
        <p:spPr>
          <a:xfrm>
            <a:off x="4691089" y="4681726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7" name="Connettore 56">
            <a:extLst>
              <a:ext uri="{FF2B5EF4-FFF2-40B4-BE49-F238E27FC236}">
                <a16:creationId xmlns:a16="http://schemas.microsoft.com/office/drawing/2014/main" id="{A362FF41-3E13-5122-FB2D-10FCBC30865A}"/>
              </a:ext>
            </a:extLst>
          </p:cNvPr>
          <p:cNvSpPr/>
          <p:nvPr/>
        </p:nvSpPr>
        <p:spPr>
          <a:xfrm>
            <a:off x="4283258" y="4681726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58" name="Connettore 57">
            <a:extLst>
              <a:ext uri="{FF2B5EF4-FFF2-40B4-BE49-F238E27FC236}">
                <a16:creationId xmlns:a16="http://schemas.microsoft.com/office/drawing/2014/main" id="{75C6AAB4-DBF3-93E7-A67D-012AEC030437}"/>
              </a:ext>
            </a:extLst>
          </p:cNvPr>
          <p:cNvSpPr/>
          <p:nvPr/>
        </p:nvSpPr>
        <p:spPr>
          <a:xfrm>
            <a:off x="5077455" y="4681726"/>
            <a:ext cx="262422" cy="262422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59" name="Connettore 58">
            <a:extLst>
              <a:ext uri="{FF2B5EF4-FFF2-40B4-BE49-F238E27FC236}">
                <a16:creationId xmlns:a16="http://schemas.microsoft.com/office/drawing/2014/main" id="{4F6FC297-B8E9-A7AA-4548-20520499EDD0}"/>
              </a:ext>
            </a:extLst>
          </p:cNvPr>
          <p:cNvSpPr/>
          <p:nvPr/>
        </p:nvSpPr>
        <p:spPr>
          <a:xfrm>
            <a:off x="4680356" y="5035896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Connettore 59">
            <a:extLst>
              <a:ext uri="{FF2B5EF4-FFF2-40B4-BE49-F238E27FC236}">
                <a16:creationId xmlns:a16="http://schemas.microsoft.com/office/drawing/2014/main" id="{32855DD3-CD0C-FFBB-1E5A-2FB39E1B64E6}"/>
              </a:ext>
            </a:extLst>
          </p:cNvPr>
          <p:cNvSpPr/>
          <p:nvPr/>
        </p:nvSpPr>
        <p:spPr>
          <a:xfrm>
            <a:off x="4293990" y="5035896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61" name="Connettore 60">
            <a:extLst>
              <a:ext uri="{FF2B5EF4-FFF2-40B4-BE49-F238E27FC236}">
                <a16:creationId xmlns:a16="http://schemas.microsoft.com/office/drawing/2014/main" id="{FFA320CF-5130-3D13-16E0-2AE0F4DA1881}"/>
              </a:ext>
            </a:extLst>
          </p:cNvPr>
          <p:cNvSpPr/>
          <p:nvPr/>
        </p:nvSpPr>
        <p:spPr>
          <a:xfrm>
            <a:off x="5066722" y="5035896"/>
            <a:ext cx="262422" cy="262422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62" name="Connettore 61">
            <a:extLst>
              <a:ext uri="{FF2B5EF4-FFF2-40B4-BE49-F238E27FC236}">
                <a16:creationId xmlns:a16="http://schemas.microsoft.com/office/drawing/2014/main" id="{FF972C9A-D6E5-2065-FA3E-E6534B46134A}"/>
              </a:ext>
            </a:extLst>
          </p:cNvPr>
          <p:cNvSpPr/>
          <p:nvPr/>
        </p:nvSpPr>
        <p:spPr>
          <a:xfrm>
            <a:off x="4669623" y="5357867"/>
            <a:ext cx="262422" cy="262422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Connettore 62">
            <a:extLst>
              <a:ext uri="{FF2B5EF4-FFF2-40B4-BE49-F238E27FC236}">
                <a16:creationId xmlns:a16="http://schemas.microsoft.com/office/drawing/2014/main" id="{DC32CAF1-3691-B942-1E22-521D4C6D7D55}"/>
              </a:ext>
            </a:extLst>
          </p:cNvPr>
          <p:cNvSpPr/>
          <p:nvPr/>
        </p:nvSpPr>
        <p:spPr>
          <a:xfrm>
            <a:off x="4283257" y="5357867"/>
            <a:ext cx="262422" cy="262422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64" name="Connettore 63">
            <a:extLst>
              <a:ext uri="{FF2B5EF4-FFF2-40B4-BE49-F238E27FC236}">
                <a16:creationId xmlns:a16="http://schemas.microsoft.com/office/drawing/2014/main" id="{CE73ADCD-8987-9FE8-BEB4-6A60D64E5268}"/>
              </a:ext>
            </a:extLst>
          </p:cNvPr>
          <p:cNvSpPr/>
          <p:nvPr/>
        </p:nvSpPr>
        <p:spPr>
          <a:xfrm>
            <a:off x="5055990" y="5357867"/>
            <a:ext cx="262422" cy="262422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65" name="Rettangolo 64">
            <a:extLst>
              <a:ext uri="{FF2B5EF4-FFF2-40B4-BE49-F238E27FC236}">
                <a16:creationId xmlns:a16="http://schemas.microsoft.com/office/drawing/2014/main" id="{426EA2BF-991C-4892-9478-08ED5B268E88}"/>
              </a:ext>
            </a:extLst>
          </p:cNvPr>
          <p:cNvSpPr/>
          <p:nvPr/>
        </p:nvSpPr>
        <p:spPr>
          <a:xfrm>
            <a:off x="6510039" y="4418261"/>
            <a:ext cx="2067188" cy="1665937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[[</a:t>
            </a:r>
          </a:p>
        </p:txBody>
      </p:sp>
      <p:sp>
        <p:nvSpPr>
          <p:cNvPr id="66" name="Connettore 65">
            <a:extLst>
              <a:ext uri="{FF2B5EF4-FFF2-40B4-BE49-F238E27FC236}">
                <a16:creationId xmlns:a16="http://schemas.microsoft.com/office/drawing/2014/main" id="{DFF7C0C5-CCD8-D9CD-1439-C60346427953}"/>
              </a:ext>
            </a:extLst>
          </p:cNvPr>
          <p:cNvSpPr/>
          <p:nvPr/>
        </p:nvSpPr>
        <p:spPr>
          <a:xfrm>
            <a:off x="7406385" y="4735388"/>
            <a:ext cx="262422" cy="262422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Connettore 66">
            <a:extLst>
              <a:ext uri="{FF2B5EF4-FFF2-40B4-BE49-F238E27FC236}">
                <a16:creationId xmlns:a16="http://schemas.microsoft.com/office/drawing/2014/main" id="{098331B0-A073-4263-8F14-853D9E50413D}"/>
              </a:ext>
            </a:extLst>
          </p:cNvPr>
          <p:cNvSpPr/>
          <p:nvPr/>
        </p:nvSpPr>
        <p:spPr>
          <a:xfrm>
            <a:off x="6998554" y="4735388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68" name="Connettore 67">
            <a:extLst>
              <a:ext uri="{FF2B5EF4-FFF2-40B4-BE49-F238E27FC236}">
                <a16:creationId xmlns:a16="http://schemas.microsoft.com/office/drawing/2014/main" id="{FA9CE7F3-D964-A822-0A74-5431B229B87F}"/>
              </a:ext>
            </a:extLst>
          </p:cNvPr>
          <p:cNvSpPr/>
          <p:nvPr/>
        </p:nvSpPr>
        <p:spPr>
          <a:xfrm>
            <a:off x="7792751" y="4735388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69" name="Connettore 68">
            <a:extLst>
              <a:ext uri="{FF2B5EF4-FFF2-40B4-BE49-F238E27FC236}">
                <a16:creationId xmlns:a16="http://schemas.microsoft.com/office/drawing/2014/main" id="{F5EE8F2C-2449-6C02-F5E5-CB448703DC64}"/>
              </a:ext>
            </a:extLst>
          </p:cNvPr>
          <p:cNvSpPr/>
          <p:nvPr/>
        </p:nvSpPr>
        <p:spPr>
          <a:xfrm>
            <a:off x="7395652" y="5089557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0" name="Connettore 69">
            <a:extLst>
              <a:ext uri="{FF2B5EF4-FFF2-40B4-BE49-F238E27FC236}">
                <a16:creationId xmlns:a16="http://schemas.microsoft.com/office/drawing/2014/main" id="{EB2937DC-D6A4-99E7-CF2C-3CC0287FAB4E}"/>
              </a:ext>
            </a:extLst>
          </p:cNvPr>
          <p:cNvSpPr/>
          <p:nvPr/>
        </p:nvSpPr>
        <p:spPr>
          <a:xfrm>
            <a:off x="7009286" y="5089557"/>
            <a:ext cx="262422" cy="262422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71" name="Connettore 70">
            <a:extLst>
              <a:ext uri="{FF2B5EF4-FFF2-40B4-BE49-F238E27FC236}">
                <a16:creationId xmlns:a16="http://schemas.microsoft.com/office/drawing/2014/main" id="{9CB363CC-4858-0F6E-1033-7A0F411CB8F9}"/>
              </a:ext>
            </a:extLst>
          </p:cNvPr>
          <p:cNvSpPr/>
          <p:nvPr/>
        </p:nvSpPr>
        <p:spPr>
          <a:xfrm>
            <a:off x="7782018" y="5089557"/>
            <a:ext cx="262422" cy="262422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72" name="Connettore 71">
            <a:extLst>
              <a:ext uri="{FF2B5EF4-FFF2-40B4-BE49-F238E27FC236}">
                <a16:creationId xmlns:a16="http://schemas.microsoft.com/office/drawing/2014/main" id="{A56455C4-3850-7786-55EA-2978BD0F3770}"/>
              </a:ext>
            </a:extLst>
          </p:cNvPr>
          <p:cNvSpPr/>
          <p:nvPr/>
        </p:nvSpPr>
        <p:spPr>
          <a:xfrm>
            <a:off x="7384919" y="5411530"/>
            <a:ext cx="262422" cy="262422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Connettore 72">
            <a:extLst>
              <a:ext uri="{FF2B5EF4-FFF2-40B4-BE49-F238E27FC236}">
                <a16:creationId xmlns:a16="http://schemas.microsoft.com/office/drawing/2014/main" id="{92EE8E51-02AC-C0F3-6594-76AC7D601D31}"/>
              </a:ext>
            </a:extLst>
          </p:cNvPr>
          <p:cNvSpPr/>
          <p:nvPr/>
        </p:nvSpPr>
        <p:spPr>
          <a:xfrm>
            <a:off x="6998553" y="5411530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74" name="Connettore 73">
            <a:extLst>
              <a:ext uri="{FF2B5EF4-FFF2-40B4-BE49-F238E27FC236}">
                <a16:creationId xmlns:a16="http://schemas.microsoft.com/office/drawing/2014/main" id="{0268DB2E-BBB2-A407-158B-8FE71BCA9E45}"/>
              </a:ext>
            </a:extLst>
          </p:cNvPr>
          <p:cNvSpPr/>
          <p:nvPr/>
        </p:nvSpPr>
        <p:spPr>
          <a:xfrm>
            <a:off x="7771286" y="5411530"/>
            <a:ext cx="262422" cy="262422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it-IT"/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5A392486-5584-4154-8DDB-0F7C689A52A9}"/>
              </a:ext>
            </a:extLst>
          </p:cNvPr>
          <p:cNvSpPr txBox="1"/>
          <p:nvPr/>
        </p:nvSpPr>
        <p:spPr>
          <a:xfrm>
            <a:off x="1157707" y="3594987"/>
            <a:ext cx="1005486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b="1" dirty="0"/>
              <a:t>VERTICAL                                   SQUARE                                     DIAGONAL                               FULL </a:t>
            </a:r>
          </a:p>
        </p:txBody>
      </p:sp>
    </p:spTree>
    <p:extLst>
      <p:ext uri="{BB962C8B-B14F-4D97-AF65-F5344CB8AC3E}">
        <p14:creationId xmlns:p14="http://schemas.microsoft.com/office/powerpoint/2010/main" val="316744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79CEE-E74E-422D-3A5F-A51EED279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CB92CF8-D5BD-49C2-7539-BA208AFA3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it-IT" sz="4800"/>
              <a:t>Classical Performance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31E16E5-BAB5-EB60-1760-156999C6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it-IT" sz="1700" dirty="0"/>
              <a:t>Vertical: 169 / 512 </a:t>
            </a:r>
            <a:r>
              <a:rPr lang="it-IT" sz="1700" dirty="0" err="1"/>
              <a:t>solutions</a:t>
            </a:r>
            <a:endParaRPr lang="it-IT" sz="1700" dirty="0"/>
          </a:p>
          <a:p>
            <a:r>
              <a:rPr lang="it-IT" sz="1700" dirty="0" err="1"/>
              <a:t>Square</a:t>
            </a:r>
            <a:r>
              <a:rPr lang="it-IT" sz="1700" dirty="0"/>
              <a:t>: 95 / 512 </a:t>
            </a:r>
            <a:r>
              <a:rPr lang="it-IT" sz="1700" dirty="0" err="1"/>
              <a:t>solutions</a:t>
            </a:r>
            <a:endParaRPr lang="it-IT" sz="1700" dirty="0"/>
          </a:p>
          <a:p>
            <a:r>
              <a:rPr lang="it-IT" sz="1700" dirty="0" err="1"/>
              <a:t>Diagonal</a:t>
            </a:r>
            <a:r>
              <a:rPr lang="it-IT" sz="1700" dirty="0"/>
              <a:t>: 112 / 512 </a:t>
            </a:r>
            <a:r>
              <a:rPr lang="it-IT" sz="1700" dirty="0" err="1"/>
              <a:t>solutions</a:t>
            </a:r>
            <a:endParaRPr lang="it-IT" sz="1700" dirty="0"/>
          </a:p>
          <a:p>
            <a:r>
              <a:rPr lang="it-IT" sz="1700" dirty="0"/>
              <a:t>Full: 1 / 512 </a:t>
            </a:r>
            <a:r>
              <a:rPr lang="it-IT" sz="1700" dirty="0" err="1"/>
              <a:t>solution</a:t>
            </a:r>
            <a:br>
              <a:rPr lang="it-IT" sz="1700" dirty="0"/>
            </a:br>
            <a:endParaRPr lang="it-IT" sz="1700" dirty="0"/>
          </a:p>
          <a:p>
            <a:pPr marL="0" indent="0">
              <a:buNone/>
            </a:pPr>
            <a:r>
              <a:rPr lang="it-IT" sz="1700" b="1" dirty="0"/>
              <a:t>4</a:t>
            </a:r>
            <a:r>
              <a:rPr lang="it-IT" sz="1700" dirty="0"/>
              <a:t> </a:t>
            </a:r>
            <a:r>
              <a:rPr lang="it-IT" sz="1700" dirty="0" err="1"/>
              <a:t>classical</a:t>
            </a:r>
            <a:r>
              <a:rPr lang="it-IT" sz="1700" dirty="0"/>
              <a:t> </a:t>
            </a:r>
            <a:r>
              <a:rPr lang="it-IT" sz="1700" dirty="0" err="1"/>
              <a:t>algorithm</a:t>
            </a:r>
            <a:r>
              <a:rPr lang="it-IT" sz="1700" dirty="0"/>
              <a:t>:</a:t>
            </a:r>
          </a:p>
          <a:p>
            <a:pPr marL="0" indent="0">
              <a:buNone/>
            </a:pPr>
            <a:r>
              <a:rPr lang="it-IT" sz="1700" dirty="0" err="1"/>
              <a:t>Sequence</a:t>
            </a:r>
            <a:r>
              <a:rPr lang="it-IT" sz="1700" dirty="0"/>
              <a:t> </a:t>
            </a:r>
            <a:r>
              <a:rPr lang="it-IT" sz="1700" dirty="0" err="1"/>
              <a:t>starting</a:t>
            </a:r>
            <a:r>
              <a:rPr lang="it-IT" sz="1700" dirty="0"/>
              <a:t> from 0</a:t>
            </a:r>
          </a:p>
          <a:p>
            <a:pPr marL="0" indent="0">
              <a:buNone/>
            </a:pPr>
            <a:r>
              <a:rPr lang="it-IT" sz="1700" dirty="0" err="1"/>
              <a:t>Sequence</a:t>
            </a:r>
            <a:r>
              <a:rPr lang="it-IT" sz="1700" dirty="0"/>
              <a:t> </a:t>
            </a:r>
            <a:r>
              <a:rPr lang="it-IT" sz="1700" dirty="0" err="1"/>
              <a:t>starting</a:t>
            </a:r>
            <a:r>
              <a:rPr lang="it-IT" sz="1700" dirty="0"/>
              <a:t> from casual index</a:t>
            </a:r>
          </a:p>
          <a:p>
            <a:pPr marL="0" indent="0">
              <a:buNone/>
            </a:pPr>
            <a:r>
              <a:rPr lang="it-IT" sz="1700" dirty="0"/>
              <a:t>Full random (with </a:t>
            </a:r>
            <a:r>
              <a:rPr lang="it-IT" sz="1700" dirty="0" err="1"/>
              <a:t>repetition</a:t>
            </a:r>
            <a:r>
              <a:rPr lang="it-IT" sz="1700" dirty="0"/>
              <a:t>)</a:t>
            </a:r>
          </a:p>
          <a:p>
            <a:pPr marL="0" indent="0">
              <a:buNone/>
            </a:pPr>
            <a:r>
              <a:rPr lang="it-IT" sz="1700" dirty="0"/>
              <a:t>Random </a:t>
            </a:r>
            <a:r>
              <a:rPr lang="it-IT" sz="1700" dirty="0" err="1"/>
              <a:t>without</a:t>
            </a:r>
            <a:r>
              <a:rPr lang="it-IT" sz="1700" dirty="0"/>
              <a:t> </a:t>
            </a:r>
            <a:r>
              <a:rPr lang="it-IT" sz="1700" dirty="0" err="1"/>
              <a:t>repetition</a:t>
            </a:r>
            <a:endParaRPr lang="it-IT" sz="1700" dirty="0"/>
          </a:p>
        </p:txBody>
      </p:sp>
      <p:pic>
        <p:nvPicPr>
          <p:cNvPr id="3" name="Segnaposto contenuto 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B76FB3AD-C426-3325-7D81-A78CF7556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707" y="2367398"/>
            <a:ext cx="6894655" cy="385999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03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0E682-7964-B6A7-0B4B-0412C394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INTRODUCTION TO QUANTUM GROVER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EA2DA82-5079-D18C-C068-0493E687DE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AutoNum type="arabicPeriod"/>
                </a:pPr>
                <a:r>
                  <a:rPr lang="en-US" dirty="0"/>
                  <a:t>The Purpose: Unstructured Search</a:t>
                </a:r>
              </a:p>
              <a:p>
                <a:pPr lvl="1"/>
                <a:r>
                  <a:rPr lang="en-US" dirty="0"/>
                  <a:t>A quantum algorithm designed to find a specific item in an unstructured database (or solve "black-box" problems).</a:t>
                </a:r>
              </a:p>
              <a:p>
                <a:pPr lvl="1"/>
                <a:r>
                  <a:rPr lang="en-US" dirty="0"/>
                  <a:t>It operates on a superposition of all N possible states simultaneously.</a:t>
                </a:r>
              </a:p>
              <a:p>
                <a:pPr lvl="1"/>
                <a:endParaRPr lang="it-IT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dirty="0"/>
                  <a:t>The Two </a:t>
                </a:r>
                <a:r>
                  <a:rPr lang="it-IT" dirty="0" err="1"/>
                  <a:t>Main</a:t>
                </a:r>
                <a:r>
                  <a:rPr lang="it-IT" dirty="0"/>
                  <a:t> </a:t>
                </a:r>
                <a:r>
                  <a:rPr lang="it-IT" dirty="0" err="1"/>
                  <a:t>Operators</a:t>
                </a:r>
                <a:endParaRPr lang="it-IT" dirty="0"/>
              </a:p>
              <a:p>
                <a:pPr lvl="1"/>
                <a:r>
                  <a:rPr lang="en-US" dirty="0"/>
                  <a:t>The Oracle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The "judge." It identifies the target solution and "marks" it by flipping its quantum phase -1.</a:t>
                </a:r>
              </a:p>
              <a:p>
                <a:pPr lvl="1"/>
                <a:r>
                  <a:rPr lang="en-US" dirty="0"/>
                  <a:t>The Diffuser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it-IT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sub>
                        </m:sSub>
                      </m:e>
                    </m:d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 "amplifier." It performs an inversion about the mean, shrinking the amplitudes of wrong answers and drastically boosting the marked one.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2EA2DA82-5079-D18C-C068-0493E687DE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 r="-4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28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C272B2-57C0-985A-C55F-950EF23C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GROVER ITERATION (Taylor </a:t>
            </a:r>
            <a:r>
              <a:rPr lang="it-IT" dirty="0" err="1"/>
              <a:t>approximation</a:t>
            </a:r>
            <a:r>
              <a:rPr lang="it-IT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1B36DC7-C8FA-264E-19B0-CBB89DAF69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52312"/>
                <a:ext cx="4590448" cy="4351338"/>
              </a:xfrm>
            </p:spPr>
            <p:txBody>
              <a:bodyPr>
                <a:normAutofit/>
              </a:bodyPr>
              <a:lstStyle/>
              <a:p>
                <a:r>
                  <a:rPr lang="it-IT" sz="1800" dirty="0"/>
                  <a:t>Iteration formula (</a:t>
                </a:r>
                <a:r>
                  <a:rPr lang="it-IT" sz="1800" dirty="0" err="1"/>
                  <a:t>taylor</a:t>
                </a:r>
                <a:r>
                  <a:rPr lang="it-IT" sz="1800" dirty="0"/>
                  <a:t> </a:t>
                </a:r>
                <a:r>
                  <a:rPr lang="it-IT" sz="1800" dirty="0" err="1"/>
                  <a:t>approximation</a:t>
                </a:r>
                <a:r>
                  <a:rPr lang="it-IT" sz="1800" dirty="0"/>
                  <a:t>):        </a:t>
                </a:r>
                <a14:m>
                  <m:oMath xmlns:m="http://schemas.openxmlformats.org/officeDocument/2006/math"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l-GR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l-GR" sz="1800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ad>
                      <m:radPr>
                        <m:degHide m:val="on"/>
                        <m:ctrlPr>
                          <a:rPr lang="el-GR" sz="18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l-GR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num>
                          <m:den>
                            <m:r>
                              <a:rPr lang="it-IT" sz="18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den>
                        </m:f>
                      </m:e>
                    </m:rad>
                  </m:oMath>
                </a14:m>
                <a:endParaRPr lang="it-IT" sz="1800" dirty="0"/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t-IT" sz="1800" dirty="0"/>
                  <a:t>Vertical: k = 1.367 </a:t>
                </a:r>
                <a:r>
                  <a:rPr lang="it-IT" sz="1800" dirty="0">
                    <a:sym typeface="Wingdings" panose="05000000000000000000" pitchFamily="2" charset="2"/>
                  </a:rPr>
                  <a:t> </a:t>
                </a:r>
                <a:r>
                  <a:rPr lang="it-IT" sz="1800" b="1" dirty="0">
                    <a:sym typeface="Wingdings" panose="05000000000000000000" pitchFamily="2" charset="2"/>
                  </a:rPr>
                  <a:t>k = 1</a:t>
                </a:r>
                <a:endParaRPr lang="it-IT" sz="1800" b="1" dirty="0"/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t-IT" sz="1800" dirty="0" err="1"/>
                  <a:t>Square</a:t>
                </a:r>
                <a:r>
                  <a:rPr lang="it-IT" sz="1800" dirty="0"/>
                  <a:t>:  k = 1.823 </a:t>
                </a:r>
                <a:r>
                  <a:rPr lang="it-IT" sz="1800" dirty="0">
                    <a:sym typeface="Wingdings" panose="05000000000000000000" pitchFamily="2" charset="2"/>
                  </a:rPr>
                  <a:t></a:t>
                </a:r>
                <a:r>
                  <a:rPr lang="it-IT" sz="1800" dirty="0"/>
                  <a:t> </a:t>
                </a:r>
                <a:r>
                  <a:rPr lang="it-IT" sz="1800" b="1" dirty="0"/>
                  <a:t>k = 2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t-IT" sz="1800" dirty="0" err="1"/>
                  <a:t>Diagonal</a:t>
                </a:r>
                <a:r>
                  <a:rPr lang="it-IT" sz="1800" dirty="0"/>
                  <a:t>: k = 1.68 </a:t>
                </a:r>
                <a:r>
                  <a:rPr lang="it-IT" sz="1800" dirty="0">
                    <a:sym typeface="Wingdings" panose="05000000000000000000" pitchFamily="2" charset="2"/>
                  </a:rPr>
                  <a:t> </a:t>
                </a:r>
                <a:r>
                  <a:rPr lang="it-IT" sz="1800" b="1" dirty="0">
                    <a:sym typeface="Wingdings" panose="05000000000000000000" pitchFamily="2" charset="2"/>
                  </a:rPr>
                  <a:t>k = 2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t-IT" sz="1800" dirty="0">
                    <a:sym typeface="Wingdings" panose="05000000000000000000" pitchFamily="2" charset="2"/>
                  </a:rPr>
                  <a:t>Full: k = 17.77          </a:t>
                </a:r>
                <a:r>
                  <a:rPr lang="it-IT" sz="1800" b="1" dirty="0">
                    <a:sym typeface="Wingdings" panose="05000000000000000000" pitchFamily="2" charset="2"/>
                  </a:rPr>
                  <a:t>k = 18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endParaRPr lang="it-IT" sz="1800" b="1" dirty="0"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</a:pPr>
                <a:endParaRPr lang="it-IT" sz="1800" b="1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1B36DC7-C8FA-264E-19B0-CBB89DAF6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52312"/>
                <a:ext cx="4590448" cy="4351338"/>
              </a:xfrm>
              <a:blipFill>
                <a:blip r:embed="rId2"/>
                <a:stretch>
                  <a:fillRect l="-1195" t="-1261" r="-332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F6C4F488-7C3A-351D-B3F9-5683ADFB0B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28648" y="2252312"/>
                <a:ext cx="5707781" cy="354209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it-IT" sz="1700" dirty="0"/>
                  <a:t>Success </a:t>
                </a:r>
                <a:r>
                  <a:rPr lang="it-IT" sz="1700" dirty="0" err="1"/>
                  <a:t>probability</a:t>
                </a:r>
                <a:r>
                  <a:rPr lang="it-IT" sz="1700" dirty="0"/>
                  <a:t>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sz="17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it-IT" sz="17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sz="17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it-IT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it-IT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l-GR" sz="17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it-IT" sz="1700" i="1" smtClean="0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it-IT" sz="170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it-IT" sz="170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l-GR" sz="17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it-IT" sz="170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it-IT" sz="17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it-IT" sz="17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sz="170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it-IT" sz="170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it-IT" sz="17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it-IT" sz="17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it-IT" sz="17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170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num>
                                <m:den>
                                  <m:r>
                                    <a:rPr lang="it-IT" sz="170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den>
                              </m:f>
                            </m:e>
                          </m:rad>
                          <m:r>
                            <a:rPr lang="it-IT" sz="1700" i="1" smtClean="0">
                              <a:latin typeface="Cambria Math" panose="02040503050406030204" pitchFamily="18" charset="0"/>
                            </a:rPr>
                            <m:t> )</m:t>
                          </m:r>
                        </m:e>
                      </m:func>
                    </m:oMath>
                  </m:oMathPara>
                </a14:m>
                <a:endParaRPr lang="it-IT" sz="17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sz="1700" dirty="0">
                    <a:latin typeface="Cambria Math" panose="02040503050406030204" pitchFamily="18" charset="0"/>
                  </a:rPr>
                  <a:t>Vertical: </a:t>
                </a:r>
                <a14:m>
                  <m:oMath xmlns:m="http://schemas.openxmlformats.org/officeDocument/2006/math">
                    <m:r>
                      <a:rPr lang="it-IT" sz="17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sz="17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it-IT" sz="170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it-IT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it-IT" sz="17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7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it-IT" sz="1700" i="1" smtClean="0">
                                <a:latin typeface="Cambria Math" panose="02040503050406030204" pitchFamily="18" charset="0"/>
                              </a:rPr>
                              <m:t>0.6120</m:t>
                            </m:r>
                          </m:e>
                        </m:d>
                        <m:r>
                          <a:rPr lang="it-IT" sz="17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𝟗𝟑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func>
                  </m:oMath>
                </a14:m>
                <a:endParaRPr lang="it-IT" sz="1700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sz="1700" dirty="0" err="1">
                    <a:latin typeface="Cambria Math" panose="02040503050406030204" pitchFamily="18" charset="0"/>
                  </a:rPr>
                  <a:t>Square</a:t>
                </a:r>
                <a:r>
                  <a:rPr lang="it-IT" sz="1700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it-IT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sz="1700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it-IT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it-IT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7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it-IT" sz="1700" i="1" smtClean="0">
                                <a:latin typeface="Cambria Math" panose="02040503050406030204" pitchFamily="18" charset="0"/>
                              </a:rPr>
                              <m:t>4453</m:t>
                            </m:r>
                          </m:e>
                        </m:d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𝟔𝟐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𝟖𝟏</m:t>
                        </m:r>
                        <m:r>
                          <a:rPr lang="it-IT" sz="1700" b="1" i="1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func>
                  </m:oMath>
                </a14:m>
                <a:endParaRPr lang="it-IT" sz="1700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sz="1700" dirty="0" err="1">
                    <a:latin typeface="Cambria Math" panose="02040503050406030204" pitchFamily="18" charset="0"/>
                  </a:rPr>
                  <a:t>Diagonal</a:t>
                </a:r>
                <a:r>
                  <a:rPr lang="it-IT" sz="1700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it-IT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it-IT" sz="1700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it-IT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it-IT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7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it-IT" sz="1700" i="1" smtClean="0">
                                <a:latin typeface="Cambria Math" panose="02040503050406030204" pitchFamily="18" charset="0"/>
                              </a:rPr>
                              <m:t>0.4867</m:t>
                            </m:r>
                          </m:e>
                        </m:d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𝟒𝟐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𝟑𝟎</m:t>
                        </m:r>
                        <m:r>
                          <a:rPr lang="it-IT" sz="1700" b="1" i="1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func>
                  </m:oMath>
                </a14:m>
                <a:endParaRPr lang="it-IT" sz="1700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sz="1700" dirty="0">
                    <a:latin typeface="Cambria Math" panose="02040503050406030204" pitchFamily="18" charset="0"/>
                  </a:rPr>
                  <a:t>Full: </a:t>
                </a:r>
                <a14:m>
                  <m:oMath xmlns:m="http://schemas.openxmlformats.org/officeDocument/2006/math">
                    <m:r>
                      <a:rPr lang="it-IT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1700" i="1" smtClean="0"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  <m:r>
                      <a:rPr lang="it-IT" sz="1700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it-IT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it-IT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7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it-IT" sz="170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d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it-IT" sz="1700" i="1" smtClean="0">
                                <a:latin typeface="Cambria Math" panose="02040503050406030204" pitchFamily="18" charset="0"/>
                              </a:rPr>
                              <m:t>0.0422</m:t>
                            </m:r>
                          </m:e>
                        </m:d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1700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𝟓𝟖𝟏</m:t>
                        </m:r>
                        <m:r>
                          <a:rPr lang="it-IT" sz="1700" b="1" i="1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func>
                  </m:oMath>
                </a14:m>
                <a:endParaRPr lang="it-IT" sz="170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sz="17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sz="1700" dirty="0"/>
              </a:p>
            </p:txBody>
          </p:sp>
        </mc:Choice>
        <mc:Fallback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F6C4F488-7C3A-351D-B3F9-5683ADFB0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648" y="2252312"/>
                <a:ext cx="5707781" cy="3542098"/>
              </a:xfrm>
              <a:prstGeom prst="rect">
                <a:avLst/>
              </a:prstGeom>
              <a:blipFill>
                <a:blip r:embed="rId3"/>
                <a:stretch>
                  <a:fillRect l="-641" t="-10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1989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FE5DB-C23A-1FC0-A2FE-EF31B00B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878D91-121F-AABC-F1CB-2D9BB1721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0984" cy="1325563"/>
          </a:xfrm>
        </p:spPr>
        <p:txBody>
          <a:bodyPr/>
          <a:lstStyle/>
          <a:p>
            <a:r>
              <a:rPr lang="it-IT" dirty="0"/>
              <a:t>GROVER ITERATION (</a:t>
            </a:r>
            <a:r>
              <a:rPr lang="it-IT" dirty="0" err="1"/>
              <a:t>Geometric</a:t>
            </a:r>
            <a:r>
              <a:rPr lang="it-IT" dirty="0"/>
              <a:t> </a:t>
            </a:r>
            <a:r>
              <a:rPr lang="it-IT" dirty="0" err="1"/>
              <a:t>Interpretation</a:t>
            </a:r>
            <a:r>
              <a:rPr lang="it-IT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944ED6A-C9D9-858D-5C07-F74CF497E8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992429"/>
                <a:ext cx="4888832" cy="4184534"/>
              </a:xfrm>
            </p:spPr>
            <p:txBody>
              <a:bodyPr>
                <a:normAutofit/>
              </a:bodyPr>
              <a:lstStyle/>
              <a:p>
                <a:r>
                  <a:rPr lang="it-IT" sz="1800" dirty="0"/>
                  <a:t>Iteration formula: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it-IT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l-G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it-IT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l-GR" sz="1800" i="1"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it-IT" sz="1800" b="0" i="1" smtClean="0">
                          <a:latin typeface="Cambria Math" panose="02040503050406030204" pitchFamily="18" charset="0"/>
                        </a:rPr>
                        <m:t> −0.5</m:t>
                      </m:r>
                    </m:oMath>
                  </m:oMathPara>
                </a14:m>
                <a:endParaRPr lang="it-IT" sz="1800" dirty="0"/>
              </a:p>
              <a:p>
                <a:pPr marL="0" indent="0" algn="just">
                  <a:buNone/>
                </a:pPr>
                <a:endParaRPr lang="it-IT" sz="1800" dirty="0"/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t-IT" sz="1800" dirty="0"/>
                  <a:t>Vertical: k = 0.783 </a:t>
                </a:r>
                <a:r>
                  <a:rPr lang="it-IT" sz="1800" dirty="0">
                    <a:sym typeface="Wingdings" panose="05000000000000000000" pitchFamily="2" charset="2"/>
                  </a:rPr>
                  <a:t> </a:t>
                </a:r>
                <a:r>
                  <a:rPr lang="it-IT" sz="1800" b="1" dirty="0">
                    <a:sym typeface="Wingdings" panose="05000000000000000000" pitchFamily="2" charset="2"/>
                  </a:rPr>
                  <a:t>k = 1</a:t>
                </a:r>
                <a:endParaRPr lang="it-IT" sz="1800" b="1" dirty="0"/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t-IT" sz="1800" dirty="0" err="1"/>
                  <a:t>Square</a:t>
                </a:r>
                <a:r>
                  <a:rPr lang="it-IT" sz="1800" dirty="0"/>
                  <a:t>:  k = 1.264 </a:t>
                </a:r>
                <a:r>
                  <a:rPr lang="it-IT" sz="1800" dirty="0">
                    <a:sym typeface="Wingdings" panose="05000000000000000000" pitchFamily="2" charset="2"/>
                  </a:rPr>
                  <a:t></a:t>
                </a:r>
                <a:r>
                  <a:rPr lang="it-IT" sz="1800" dirty="0"/>
                  <a:t> </a:t>
                </a:r>
                <a:r>
                  <a:rPr lang="it-IT" sz="1800" b="1" dirty="0"/>
                  <a:t>k = 1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t-IT" sz="1800" dirty="0" err="1"/>
                  <a:t>Diagonal</a:t>
                </a:r>
                <a:r>
                  <a:rPr lang="it-IT" sz="1800" dirty="0"/>
                  <a:t>: k = 1.114 </a:t>
                </a:r>
                <a:r>
                  <a:rPr lang="it-IT" sz="1800" dirty="0">
                    <a:sym typeface="Wingdings" panose="05000000000000000000" pitchFamily="2" charset="2"/>
                  </a:rPr>
                  <a:t> </a:t>
                </a:r>
                <a:r>
                  <a:rPr lang="it-IT" sz="1800" b="1" dirty="0">
                    <a:sym typeface="Wingdings" panose="05000000000000000000" pitchFamily="2" charset="2"/>
                  </a:rPr>
                  <a:t>k = 1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it-IT" sz="1800" dirty="0">
                    <a:sym typeface="Wingdings" panose="05000000000000000000" pitchFamily="2" charset="2"/>
                  </a:rPr>
                  <a:t>Full: k = 17.266        </a:t>
                </a:r>
                <a:r>
                  <a:rPr lang="it-IT" sz="1800" b="1" dirty="0">
                    <a:sym typeface="Wingdings" panose="05000000000000000000" pitchFamily="2" charset="2"/>
                  </a:rPr>
                  <a:t>k = 17</a:t>
                </a:r>
                <a:endParaRPr lang="it-IT" sz="1800" b="1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944ED6A-C9D9-858D-5C07-F74CF497E8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992429"/>
                <a:ext cx="4888832" cy="4184534"/>
              </a:xfrm>
              <a:blipFill>
                <a:blip r:embed="rId2"/>
                <a:stretch>
                  <a:fillRect l="-1124" t="-14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99FA9BDE-C308-B814-FFC2-6086B75FAC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27033" y="2103120"/>
                <a:ext cx="5761522" cy="39631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it-IT" sz="1700" dirty="0"/>
                  <a:t>Success </a:t>
                </a:r>
                <a:r>
                  <a:rPr lang="it-IT" sz="1700" dirty="0" err="1"/>
                  <a:t>probability</a:t>
                </a:r>
                <a:r>
                  <a:rPr lang="it-IT" sz="1700" dirty="0"/>
                  <a:t>: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sz="17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it-IT" sz="17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sz="17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it-IT" sz="17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e>
                            <m:sup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ctrlPr>
                                <a:rPr lang="it-IT" sz="17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it-IT" sz="17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l-GR" sz="17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it-IT" sz="17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it-IT" sz="1700" i="1" smtClean="0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it-IT" sz="170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it-IT" sz="170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l-GR" sz="17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it-IT" sz="1700" i="1" smtClean="0"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it-IT" sz="17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it-IT" sz="17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it-IT" sz="170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it-IT" sz="170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r>
                            <a:rPr lang="it-IT" sz="17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it-IT" sz="17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it-IT" sz="17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170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r>
                                    <a:rPr lang="it-IT" sz="170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rad>
                          <m:r>
                            <a:rPr lang="it-IT" sz="1700" i="1" smtClean="0">
                              <a:latin typeface="Cambria Math" panose="02040503050406030204" pitchFamily="18" charset="0"/>
                            </a:rPr>
                            <m:t> )</m:t>
                          </m:r>
                        </m:e>
                      </m:func>
                    </m:oMath>
                  </m:oMathPara>
                </a14:m>
                <a:endParaRPr lang="it-IT" sz="170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sz="1700" dirty="0">
                    <a:latin typeface="Cambria Math" panose="02040503050406030204" pitchFamily="18" charset="0"/>
                  </a:rPr>
                  <a:t>Vertical: </a:t>
                </a:r>
                <a14:m>
                  <m:oMath xmlns:m="http://schemas.openxmlformats.org/officeDocument/2006/math">
                    <m:r>
                      <a:rPr lang="it-IT" sz="17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sz="17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it-IT" sz="170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it-IT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it-IT" sz="17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7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it-IT" sz="1700" i="1" smtClean="0">
                                <a:latin typeface="Cambria Math" panose="02040503050406030204" pitchFamily="18" charset="0"/>
                              </a:rPr>
                              <m:t>0.6120</m:t>
                            </m:r>
                          </m:e>
                        </m:d>
                        <m:r>
                          <a:rPr lang="it-IT" sz="17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𝟗𝟑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func>
                  </m:oMath>
                </a14:m>
                <a:endParaRPr lang="it-IT" sz="1700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sz="1700" dirty="0" err="1">
                    <a:latin typeface="Cambria Math" panose="02040503050406030204" pitchFamily="18" charset="0"/>
                  </a:rPr>
                  <a:t>Square</a:t>
                </a:r>
                <a:r>
                  <a:rPr lang="it-IT" sz="1700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it-IT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it-IT" sz="1700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it-IT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it-IT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7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it-IT" sz="1700" i="1" smtClean="0">
                                <a:latin typeface="Cambria Math" panose="02040503050406030204" pitchFamily="18" charset="0"/>
                              </a:rPr>
                              <m:t>4453</m:t>
                            </m:r>
                          </m:e>
                        </m:d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𝟗𝟒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𝟓𝟗</m:t>
                        </m:r>
                        <m:r>
                          <a:rPr lang="it-IT" sz="1700" b="1" i="1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func>
                  </m:oMath>
                </a14:m>
                <a:endParaRPr lang="it-IT" sz="1700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sz="1700" dirty="0" err="1">
                    <a:latin typeface="Cambria Math" panose="02040503050406030204" pitchFamily="18" charset="0"/>
                  </a:rPr>
                  <a:t>Diagonal</a:t>
                </a:r>
                <a:r>
                  <a:rPr lang="it-IT" sz="1700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it-IT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it-IT" sz="1700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it-IT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it-IT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7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it-IT" sz="1700" i="1" smtClean="0">
                                <a:latin typeface="Cambria Math" panose="02040503050406030204" pitchFamily="18" charset="0"/>
                              </a:rPr>
                              <m:t>0.4867</m:t>
                            </m:r>
                          </m:e>
                        </m:d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𝟗𝟖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𝟕𝟖</m:t>
                        </m:r>
                        <m:r>
                          <a:rPr lang="it-IT" sz="1700" b="1" i="1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func>
                  </m:oMath>
                </a14:m>
                <a:endParaRPr lang="it-IT" sz="1700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sz="1700" dirty="0">
                    <a:latin typeface="Cambria Math" panose="02040503050406030204" pitchFamily="18" charset="0"/>
                  </a:rPr>
                  <a:t>Full: </a:t>
                </a:r>
                <a14:m>
                  <m:oMath xmlns:m="http://schemas.openxmlformats.org/officeDocument/2006/math">
                    <m:r>
                      <a:rPr lang="it-IT" sz="17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sz="1700" i="1" smtClean="0"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a:rPr lang="it-IT" sz="1700" i="1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it-IT" sz="17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it-IT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it-IT" sz="17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it-IT"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7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it-IT" sz="170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e>
                                </m:d>
                                <m:r>
                                  <a:rPr lang="it-IT" sz="17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it-IT" sz="1700" i="1" smtClean="0">
                                <a:latin typeface="Cambria Math" panose="02040503050406030204" pitchFamily="18" charset="0"/>
                              </a:rPr>
                              <m:t>0.0422</m:t>
                            </m:r>
                          </m:e>
                        </m:d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sz="1700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it-IT" sz="1700" b="1" i="1" smtClean="0">
                            <a:latin typeface="Cambria Math" panose="02040503050406030204" pitchFamily="18" charset="0"/>
                          </a:rPr>
                          <m:t>𝟗𝟒</m:t>
                        </m:r>
                        <m:r>
                          <a:rPr lang="it-IT" sz="1700" b="1" i="1">
                            <a:latin typeface="Cambria Math" panose="02040503050406030204" pitchFamily="18" charset="0"/>
                          </a:rPr>
                          <m:t>%</m:t>
                        </m:r>
                      </m:e>
                    </m:func>
                  </m:oMath>
                </a14:m>
                <a:endParaRPr lang="it-IT" sz="1700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sz="17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sz="1700" dirty="0"/>
              </a:p>
            </p:txBody>
          </p:sp>
        </mc:Choice>
        <mc:Fallback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99FA9BDE-C308-B814-FFC2-6086B75FA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7033" y="2103120"/>
                <a:ext cx="5761522" cy="3963152"/>
              </a:xfrm>
              <a:prstGeom prst="rect">
                <a:avLst/>
              </a:prstGeom>
              <a:blipFill>
                <a:blip r:embed="rId3"/>
                <a:stretch>
                  <a:fillRect l="-634" t="-92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8442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A59ECF-FFDE-C338-1521-3E8FC021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CLASSICAL VS GROVER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10752088-D05F-EE03-074A-96033C4368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6185067"/>
              </p:ext>
            </p:extLst>
          </p:nvPr>
        </p:nvGraphicFramePr>
        <p:xfrm>
          <a:off x="838200" y="1825624"/>
          <a:ext cx="10939271" cy="400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09">
                  <a:extLst>
                    <a:ext uri="{9D8B030D-6E8A-4147-A177-3AD203B41FA5}">
                      <a16:colId xmlns:a16="http://schemas.microsoft.com/office/drawing/2014/main" val="3863411942"/>
                    </a:ext>
                  </a:extLst>
                </a:gridCol>
                <a:gridCol w="1470460">
                  <a:extLst>
                    <a:ext uri="{9D8B030D-6E8A-4147-A177-3AD203B41FA5}">
                      <a16:colId xmlns:a16="http://schemas.microsoft.com/office/drawing/2014/main" val="3311877477"/>
                    </a:ext>
                  </a:extLst>
                </a:gridCol>
                <a:gridCol w="1502960">
                  <a:extLst>
                    <a:ext uri="{9D8B030D-6E8A-4147-A177-3AD203B41FA5}">
                      <a16:colId xmlns:a16="http://schemas.microsoft.com/office/drawing/2014/main" val="2612692953"/>
                    </a:ext>
                  </a:extLst>
                </a:gridCol>
                <a:gridCol w="1128806">
                  <a:extLst>
                    <a:ext uri="{9D8B030D-6E8A-4147-A177-3AD203B41FA5}">
                      <a16:colId xmlns:a16="http://schemas.microsoft.com/office/drawing/2014/main" val="3946322122"/>
                    </a:ext>
                  </a:extLst>
                </a:gridCol>
                <a:gridCol w="1367409">
                  <a:extLst>
                    <a:ext uri="{9D8B030D-6E8A-4147-A177-3AD203B41FA5}">
                      <a16:colId xmlns:a16="http://schemas.microsoft.com/office/drawing/2014/main" val="3041500309"/>
                    </a:ext>
                  </a:extLst>
                </a:gridCol>
                <a:gridCol w="1367409">
                  <a:extLst>
                    <a:ext uri="{9D8B030D-6E8A-4147-A177-3AD203B41FA5}">
                      <a16:colId xmlns:a16="http://schemas.microsoft.com/office/drawing/2014/main" val="1895018415"/>
                    </a:ext>
                  </a:extLst>
                </a:gridCol>
                <a:gridCol w="1367409">
                  <a:extLst>
                    <a:ext uri="{9D8B030D-6E8A-4147-A177-3AD203B41FA5}">
                      <a16:colId xmlns:a16="http://schemas.microsoft.com/office/drawing/2014/main" val="3122613905"/>
                    </a:ext>
                  </a:extLst>
                </a:gridCol>
                <a:gridCol w="1367409">
                  <a:extLst>
                    <a:ext uri="{9D8B030D-6E8A-4147-A177-3AD203B41FA5}">
                      <a16:colId xmlns:a16="http://schemas.microsoft.com/office/drawing/2014/main" val="3759440685"/>
                    </a:ext>
                  </a:extLst>
                </a:gridCol>
              </a:tblGrid>
              <a:tr h="972440">
                <a:tc>
                  <a:txBody>
                    <a:bodyPr/>
                    <a:lstStyle/>
                    <a:p>
                      <a:r>
                        <a:rPr lang="it-IT" dirty="0"/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CLASSICAL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PROB.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GROVER (APPROX)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PROB.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GROVER (EXACT)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PROB.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66370"/>
                  </a:ext>
                </a:extLst>
              </a:tr>
              <a:tr h="757494">
                <a:tc>
                  <a:txBody>
                    <a:bodyPr/>
                    <a:lstStyle/>
                    <a:p>
                      <a:r>
                        <a:rPr lang="it-IT" dirty="0"/>
                        <a:t>VERTICAL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33.0%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93.1%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93.1%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119724"/>
                  </a:ext>
                </a:extLst>
              </a:tr>
              <a:tr h="757494">
                <a:tc>
                  <a:txBody>
                    <a:bodyPr/>
                    <a:lstStyle/>
                    <a:p>
                      <a:r>
                        <a:rPr lang="it-IT" dirty="0"/>
                        <a:t>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18.6%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62.81%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94.59%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697540"/>
                  </a:ext>
                </a:extLst>
              </a:tr>
              <a:tr h="757494">
                <a:tc>
                  <a:txBody>
                    <a:bodyPr/>
                    <a:lstStyle/>
                    <a:p>
                      <a:r>
                        <a:rPr lang="it-IT" dirty="0"/>
                        <a:t>DIAGONAL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21.9%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42.30%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98.78%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155603"/>
                  </a:ext>
                </a:extLst>
              </a:tr>
              <a:tr h="757494">
                <a:tc>
                  <a:txBody>
                    <a:bodyPr/>
                    <a:lstStyle/>
                    <a:p>
                      <a:r>
                        <a:rPr lang="it-IT" dirty="0"/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0.2%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99.58%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99.94%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349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554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C5E3F7-301F-BF53-5951-D9B4C816B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10088" cy="1325563"/>
          </a:xfrm>
        </p:spPr>
        <p:txBody>
          <a:bodyPr>
            <a:normAutofit/>
          </a:bodyPr>
          <a:lstStyle/>
          <a:p>
            <a:r>
              <a:rPr lang="en-US" sz="3200" dirty="0"/>
              <a:t>ORACLE DESIGN: THE PRINCIPLE OF INCLUSION-EXCLUSION</a:t>
            </a:r>
            <a:endParaRPr lang="it-IT" sz="32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121740-547D-2666-5C3D-35BEA4192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The Phase Cancellation Problem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To correctly mark states and prevent phase cancellation when multiple valid patterns overlap in the same grid, We applied the Principle of Inclusion-Exclusion </a:t>
            </a:r>
          </a:p>
          <a:p>
            <a:pPr marL="0" indent="0">
              <a:buNone/>
            </a:pPr>
            <a:endParaRPr lang="en-US" sz="2400" u="sng" dirty="0"/>
          </a:p>
          <a:p>
            <a:r>
              <a:rPr lang="en-US" b="1" dirty="0"/>
              <a:t>Mathematical Model (Vertical Oracle Case)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We define the 3 vertical columns as sets of target pixels:</a:t>
            </a:r>
            <a:endParaRPr lang="en-US" dirty="0"/>
          </a:p>
          <a:p>
            <a:pPr marL="0" indent="0">
              <a:buNone/>
            </a:pPr>
            <a:r>
              <a:rPr lang="it-IT" sz="2400" dirty="0"/>
              <a:t>A = {0, 3, 6}</a:t>
            </a:r>
          </a:p>
          <a:p>
            <a:pPr marL="0" indent="0">
              <a:buNone/>
            </a:pPr>
            <a:r>
              <a:rPr lang="it-IT" sz="2400" dirty="0"/>
              <a:t>B = {1, 4, 7}</a:t>
            </a:r>
          </a:p>
          <a:p>
            <a:pPr marL="0" indent="0">
              <a:buNone/>
            </a:pPr>
            <a:r>
              <a:rPr lang="it-IT" sz="2400" dirty="0"/>
              <a:t>C = {2, 5, 8}</a:t>
            </a:r>
          </a:p>
          <a:p>
            <a:pPr marL="0" indent="0">
              <a:buNone/>
            </a:pP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446967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D7D194-A3E8-FBAA-BC8E-24A3C9230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74096" cy="1325563"/>
          </a:xfrm>
        </p:spPr>
        <p:txBody>
          <a:bodyPr>
            <a:normAutofit/>
          </a:bodyPr>
          <a:lstStyle/>
          <a:p>
            <a:r>
              <a:rPr lang="en-US" sz="3200" dirty="0"/>
              <a:t>ORACLE DESIGN: THE PRINCIPLE OF INCLUSION-EXCLUSION</a:t>
            </a:r>
            <a:endParaRPr lang="it-IT" sz="32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9AE939-F9EE-3D66-C678-1A2B61D5D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"Naive </a:t>
            </a:r>
            <a:r>
              <a:rPr lang="en-US" sz="2400" b="1" dirty="0"/>
              <a:t>OR</a:t>
            </a:r>
            <a:r>
              <a:rPr lang="en-US" sz="2400" dirty="0"/>
              <a:t>" Approach: we want to find images with at least one vertical line (Column A, B, or C).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A classical mindset applies </a:t>
            </a:r>
            <a:r>
              <a:rPr lang="en-US" sz="2400" b="1" dirty="0"/>
              <a:t>three</a:t>
            </a:r>
            <a:r>
              <a:rPr lang="en-US" sz="2400" dirty="0"/>
              <a:t> </a:t>
            </a:r>
            <a:r>
              <a:rPr lang="en-US" sz="2400" b="1" dirty="0"/>
              <a:t>independent</a:t>
            </a:r>
            <a:r>
              <a:rPr lang="en-US" sz="2400" dirty="0"/>
              <a:t> </a:t>
            </a:r>
            <a:r>
              <a:rPr lang="en-US" sz="2400" b="1" dirty="0"/>
              <a:t>MCX</a:t>
            </a:r>
            <a:r>
              <a:rPr lang="en-US" sz="2400" dirty="0"/>
              <a:t> gates in sequence (one for each column) to act as an </a:t>
            </a:r>
            <a:r>
              <a:rPr lang="en-US" sz="2400" b="1" dirty="0"/>
              <a:t>OR</a:t>
            </a:r>
            <a:r>
              <a:rPr lang="en-US" sz="2400" dirty="0"/>
              <a:t> operator.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400" dirty="0"/>
              <a:t>The </a:t>
            </a:r>
            <a:r>
              <a:rPr lang="it-IT" sz="2400" b="1" dirty="0" err="1"/>
              <a:t>Phase</a:t>
            </a:r>
            <a:r>
              <a:rPr lang="it-IT" sz="2400" dirty="0"/>
              <a:t> </a:t>
            </a:r>
            <a:r>
              <a:rPr lang="it-IT" sz="2400" b="1" dirty="0" err="1"/>
              <a:t>Cancellation</a:t>
            </a:r>
            <a:r>
              <a:rPr lang="it-IT" sz="2400" dirty="0"/>
              <a:t> </a:t>
            </a:r>
            <a:r>
              <a:rPr lang="it-IT" sz="2400" dirty="0" err="1"/>
              <a:t>Disaster</a:t>
            </a:r>
            <a:endParaRPr lang="it-IT" sz="2400" dirty="0"/>
          </a:p>
          <a:p>
            <a:pPr lvl="1"/>
            <a:r>
              <a:rPr lang="en-US" sz="2000" dirty="0"/>
              <a:t>Gate A detects Column A </a:t>
            </a:r>
            <a:r>
              <a:rPr lang="en-US" sz="2000" dirty="0">
                <a:sym typeface="Wingdings" panose="05000000000000000000" pitchFamily="2" charset="2"/>
              </a:rPr>
              <a:t> Phase is multiplied by -1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Gate B detects Column B  Phase is multiplied by -1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Gate C is OFF in this image  Phase is multiplied by +1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Total Phase Shift: (-1) x (-1) x (+1) = </a:t>
            </a:r>
            <a:r>
              <a:rPr lang="en-US" sz="2000" b="1" dirty="0">
                <a:sym typeface="Wingdings" panose="05000000000000000000" pitchFamily="2" charset="2"/>
              </a:rPr>
              <a:t>+1</a:t>
            </a:r>
            <a:r>
              <a:rPr lang="en-US" sz="2000" dirty="0">
                <a:sym typeface="Wingdings" panose="05000000000000000000" pitchFamily="2" charset="2"/>
              </a:rPr>
              <a:t>.</a:t>
            </a:r>
          </a:p>
          <a:p>
            <a:pPr lvl="1"/>
            <a:endParaRPr lang="en-US" sz="2000" dirty="0">
              <a:sym typeface="Wingdings" panose="05000000000000000000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The valid solution loses its negative marker. Due to </a:t>
            </a:r>
            <a:r>
              <a:rPr lang="en-US" sz="2400" b="1" dirty="0"/>
              <a:t>destructive</a:t>
            </a:r>
            <a:r>
              <a:rPr lang="en-US" sz="2400" dirty="0"/>
              <a:t> </a:t>
            </a:r>
            <a:r>
              <a:rPr lang="en-US" sz="2400" b="1" dirty="0"/>
              <a:t>interference</a:t>
            </a:r>
            <a:r>
              <a:rPr lang="en-US" sz="2400" dirty="0"/>
              <a:t>, Grover's diffusion operator will completely ignore this correct state!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840961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E141BD-B2AC-6547-F0B8-CF2E5D75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4952" cy="1325563"/>
          </a:xfrm>
        </p:spPr>
        <p:txBody>
          <a:bodyPr>
            <a:normAutofit/>
          </a:bodyPr>
          <a:lstStyle/>
          <a:p>
            <a:r>
              <a:rPr lang="en-US" sz="3200" dirty="0"/>
              <a:t>ORACLE DESIGN: THE PRINCIPLE OF INCLUSION-EXCLUSION</a:t>
            </a:r>
            <a:endParaRPr lang="it-IT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67D19F1-6834-D4C5-302A-4C70300F0F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6441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To mark states where </a:t>
                </a:r>
                <a:r>
                  <a:rPr lang="en-US" sz="2400" i="1" dirty="0"/>
                  <a:t>at least</a:t>
                </a:r>
                <a:r>
                  <a:rPr lang="en-US" sz="2400" dirty="0"/>
                  <a:t> one column is active, we apply :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 ∪</m:t>
                          </m:r>
                          <m:r>
                            <m:rPr>
                              <m:sty m:val="p"/>
                            </m:rPr>
                            <a:rPr lang="it-IT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it-IT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 ∩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 ∩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 ∩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 ∩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br>
                  <a:rPr lang="en-US" sz="2400" dirty="0"/>
                </a:b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Translation into </a:t>
                </a:r>
                <a:r>
                  <a:rPr lang="en-US" sz="2400" dirty="0" err="1"/>
                  <a:t>Qiskit</a:t>
                </a:r>
                <a:r>
                  <a:rPr lang="en-US" sz="2400" dirty="0"/>
                  <a:t> (MCX Gates &amp; Phases): Each term of the formula translates into a Multi-Controlled X (MCX) gate that applies a -1phase flip:</a:t>
                </a:r>
              </a:p>
              <a:p>
                <a:r>
                  <a:rPr lang="it-IT" sz="2400" b="0" dirty="0"/>
                  <a:t>Single sets: </a:t>
                </a:r>
                <a:r>
                  <a:rPr lang="it-IT" sz="2400" b="0" dirty="0" err="1"/>
                  <a:t>qc.mcx</a:t>
                </a:r>
                <a:r>
                  <a:rPr lang="it-IT" sz="2400" b="0" dirty="0"/>
                  <a:t>(A), </a:t>
                </a:r>
                <a:r>
                  <a:rPr lang="it-IT" sz="2400" b="0" dirty="0" err="1"/>
                  <a:t>qc.mcx</a:t>
                </a:r>
                <a:r>
                  <a:rPr lang="it-IT" sz="2400" b="0" dirty="0"/>
                  <a:t>(B), </a:t>
                </a:r>
                <a:r>
                  <a:rPr lang="it-IT" sz="2400" b="0" dirty="0" err="1"/>
                  <a:t>qc.mcx</a:t>
                </a:r>
                <a:r>
                  <a:rPr lang="it-IT" sz="2400" b="0" dirty="0"/>
                  <a:t>(C) </a:t>
                </a:r>
                <a:r>
                  <a:rPr lang="it-IT" sz="2400" b="0" dirty="0">
                    <a:sym typeface="Wingdings" panose="05000000000000000000" pitchFamily="2" charset="2"/>
                  </a:rPr>
                  <a:t>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mark</a:t>
                </a:r>
                <a:r>
                  <a:rPr lang="it-IT" sz="2400" b="0" dirty="0">
                    <a:sym typeface="Wingdings" panose="05000000000000000000" pitchFamily="2" charset="2"/>
                  </a:rPr>
                  <a:t> 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individual</a:t>
                </a:r>
                <a:r>
                  <a:rPr lang="it-IT" sz="2400" b="0" dirty="0">
                    <a:sym typeface="Wingdings" panose="05000000000000000000" pitchFamily="2" charset="2"/>
                  </a:rPr>
                  <a:t> 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columns</a:t>
                </a:r>
                <a:r>
                  <a:rPr lang="it-IT" sz="2400" b="0" dirty="0">
                    <a:sym typeface="Wingdings" panose="05000000000000000000" pitchFamily="2" charset="2"/>
                  </a:rPr>
                  <a:t> with a -1 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phase</a:t>
                </a:r>
                <a:r>
                  <a:rPr lang="it-IT" sz="2400" dirty="0">
                    <a:sym typeface="Wingdings" panose="05000000000000000000" pitchFamily="2" charset="2"/>
                  </a:rPr>
                  <a:t>.</a:t>
                </a:r>
              </a:p>
              <a:p>
                <a:r>
                  <a:rPr lang="it-IT" sz="2400" b="0" dirty="0" err="1">
                    <a:sym typeface="Wingdings" panose="05000000000000000000" pitchFamily="2" charset="2"/>
                  </a:rPr>
                  <a:t>Pair</a:t>
                </a:r>
                <a:r>
                  <a:rPr lang="it-IT" sz="2400" b="0" dirty="0">
                    <a:sym typeface="Wingdings" panose="05000000000000000000" pitchFamily="2" charset="2"/>
                  </a:rPr>
                  <a:t> 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intersection</a:t>
                </a:r>
                <a:r>
                  <a:rPr lang="it-IT" sz="2400" b="0" dirty="0">
                    <a:sym typeface="Wingdings" panose="05000000000000000000" pitchFamily="2" charset="2"/>
                  </a:rPr>
                  <a:t>: 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qc.mcx</a:t>
                </a:r>
                <a:r>
                  <a:rPr lang="it-IT" sz="2400" b="0" dirty="0">
                    <a:sym typeface="Wingdings" panose="05000000000000000000" pitchFamily="2" charset="2"/>
                  </a:rPr>
                  <a:t>(A+B), 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qc.mcx</a:t>
                </a:r>
                <a:r>
                  <a:rPr lang="it-IT" sz="2400" b="0" dirty="0">
                    <a:sym typeface="Wingdings" panose="05000000000000000000" pitchFamily="2" charset="2"/>
                  </a:rPr>
                  <a:t>(A+C), 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qc.mcx</a:t>
                </a:r>
                <a:r>
                  <a:rPr lang="it-IT" sz="2400" b="0" dirty="0">
                    <a:sym typeface="Wingdings" panose="05000000000000000000" pitchFamily="2" charset="2"/>
                  </a:rPr>
                  <a:t>(B+C) 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mark</a:t>
                </a:r>
                <a:r>
                  <a:rPr lang="it-IT" sz="2400" b="0" dirty="0">
                    <a:sym typeface="Wingdings" panose="05000000000000000000" pitchFamily="2" charset="2"/>
                  </a:rPr>
                  <a:t> 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two</a:t>
                </a:r>
                <a:r>
                  <a:rPr lang="it-IT" sz="2400" b="0" dirty="0">
                    <a:sym typeface="Wingdings" panose="05000000000000000000" pitchFamily="2" charset="2"/>
                  </a:rPr>
                  <a:t> 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columns</a:t>
                </a:r>
                <a:r>
                  <a:rPr lang="it-IT" sz="2400" b="0" dirty="0">
                    <a:sym typeface="Wingdings" panose="05000000000000000000" pitchFamily="2" charset="2"/>
                  </a:rPr>
                  <a:t> on with a -1 </a:t>
                </a:r>
                <a:r>
                  <a:rPr lang="it-IT" sz="2400" b="0" dirty="0" err="1">
                    <a:sym typeface="Wingdings" panose="05000000000000000000" pitchFamily="2" charset="2"/>
                  </a:rPr>
                  <a:t>phase</a:t>
                </a:r>
                <a:r>
                  <a:rPr lang="it-IT" sz="2400" b="0" dirty="0">
                    <a:sym typeface="Wingdings" panose="05000000000000000000" pitchFamily="2" charset="2"/>
                  </a:rPr>
                  <a:t>.</a:t>
                </a:r>
              </a:p>
              <a:p>
                <a:r>
                  <a:rPr lang="it-IT" sz="2400" dirty="0"/>
                  <a:t>Triple </a:t>
                </a:r>
                <a:r>
                  <a:rPr lang="it-IT" sz="2400" dirty="0" err="1"/>
                  <a:t>intersection</a:t>
                </a:r>
                <a:r>
                  <a:rPr lang="it-IT" sz="2400" dirty="0"/>
                  <a:t>: </a:t>
                </a:r>
                <a:r>
                  <a:rPr lang="it-IT" sz="2400" dirty="0" err="1"/>
                  <a:t>qc.mcx</a:t>
                </a:r>
                <a:r>
                  <a:rPr lang="it-IT" sz="2400" dirty="0"/>
                  <a:t>(A+B+C) </a:t>
                </a:r>
                <a:r>
                  <a:rPr lang="it-IT" sz="2400" dirty="0">
                    <a:sym typeface="Wingdings" panose="05000000000000000000" pitchFamily="2" charset="2"/>
                  </a:rPr>
                  <a:t></a:t>
                </a:r>
                <a:r>
                  <a:rPr lang="it-IT" sz="2400" dirty="0" err="1">
                    <a:sym typeface="Wingdings" panose="05000000000000000000" pitchFamily="2" charset="2"/>
                  </a:rPr>
                  <a:t>mark</a:t>
                </a:r>
                <a:r>
                  <a:rPr lang="it-IT" sz="2400" dirty="0">
                    <a:sym typeface="Wingdings" panose="05000000000000000000" pitchFamily="2" charset="2"/>
                  </a:rPr>
                  <a:t> with 3 </a:t>
                </a:r>
                <a:r>
                  <a:rPr lang="it-IT" sz="2400" dirty="0" err="1">
                    <a:sym typeface="Wingdings" panose="05000000000000000000" pitchFamily="2" charset="2"/>
                  </a:rPr>
                  <a:t>columns</a:t>
                </a:r>
                <a:r>
                  <a:rPr lang="it-IT" sz="2400" dirty="0">
                    <a:sym typeface="Wingdings" panose="05000000000000000000" pitchFamily="2" charset="2"/>
                  </a:rPr>
                  <a:t> on.</a:t>
                </a:r>
                <a:endParaRPr lang="it-IT" sz="2400" dirty="0"/>
              </a:p>
              <a:p>
                <a:pPr marL="0" indent="0">
                  <a:buNone/>
                </a:pPr>
                <a:endParaRPr lang="it-IT" sz="2400" b="0" dirty="0"/>
              </a:p>
              <a:p>
                <a:pPr marL="0" indent="0">
                  <a:buNone/>
                </a:pPr>
                <a:endParaRPr lang="it-IT" sz="2400" b="0" dirty="0"/>
              </a:p>
              <a:p>
                <a:pPr marL="0" indent="0">
                  <a:buNone/>
                </a:pPr>
                <a:endParaRPr lang="it-IT" sz="2400" b="0" dirty="0"/>
              </a:p>
              <a:p>
                <a:pPr marL="0" indent="0">
                  <a:buNone/>
                </a:pPr>
                <a:endParaRPr lang="it-IT" sz="2400" b="0" dirty="0"/>
              </a:p>
              <a:p>
                <a:pPr marL="0" indent="0">
                  <a:buNone/>
                </a:pPr>
                <a:endParaRPr lang="it-IT" sz="2400" b="0" dirty="0"/>
              </a:p>
              <a:p>
                <a:pPr marL="0" indent="0">
                  <a:buNone/>
                </a:pPr>
                <a:endParaRPr lang="it-IT" sz="2400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67D19F1-6834-D4C5-302A-4C70300F0F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6441"/>
                <a:ext cx="10515600" cy="4351338"/>
              </a:xfrm>
              <a:blipFill>
                <a:blip r:embed="rId2"/>
                <a:stretch>
                  <a:fillRect l="-928" t="-2521" r="-127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3671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6602C-3B40-F944-BAA1-2F4FF9EFB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QISKIT VERTICAL CIRCUIT</a:t>
            </a:r>
          </a:p>
        </p:txBody>
      </p:sp>
      <p:pic>
        <p:nvPicPr>
          <p:cNvPr id="5" name="Immagine 4" descr="Immagine che contiene linea, diagramm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C7E4F192-5CD0-948B-EA55-D7C6AB8EC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" y="1772652"/>
            <a:ext cx="11905488" cy="435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83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297D8D-106D-082E-FCB7-A3481259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QISKIT SQUARE CIRCUIT</a:t>
            </a:r>
          </a:p>
        </p:txBody>
      </p:sp>
      <p:pic>
        <p:nvPicPr>
          <p:cNvPr id="5" name="Immagine 4" descr="Immagine che contiene linea, diagramm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1D56C9AE-22C4-03F1-50D2-E0349484F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" y="2053889"/>
            <a:ext cx="11686032" cy="35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810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EACD0A-C714-1D68-22BD-686FBE451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QISKIT DIAGONAL CIRCUIT</a:t>
            </a:r>
          </a:p>
        </p:txBody>
      </p:sp>
      <p:pic>
        <p:nvPicPr>
          <p:cNvPr id="5" name="Immagine 4" descr="Immagine che contiene linea, diagramma, Diagramma, Parallelo&#10;&#10;Il contenuto generato dall'IA potrebbe non essere corretto.">
            <a:extLst>
              <a:ext uri="{FF2B5EF4-FFF2-40B4-BE49-F238E27FC236}">
                <a16:creationId xmlns:a16="http://schemas.microsoft.com/office/drawing/2014/main" id="{8AAB3D11-DF3A-6649-C3CF-F63C68C1A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30401"/>
            <a:ext cx="11887200" cy="496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917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A2998E-1B14-F01A-F8F3-2E6E85A73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QISKIT FULL CIRCUIT</a:t>
            </a:r>
          </a:p>
        </p:txBody>
      </p:sp>
      <p:pic>
        <p:nvPicPr>
          <p:cNvPr id="5" name="Segnaposto contenuto 4" descr="Immagine che contiene linea, diagramma, testo, Parallelo&#10;&#10;Il contenuto generato dall'IA potrebbe non essere corretto.">
            <a:extLst>
              <a:ext uri="{FF2B5EF4-FFF2-40B4-BE49-F238E27FC236}">
                <a16:creationId xmlns:a16="http://schemas.microsoft.com/office/drawing/2014/main" id="{273CCB0A-5DA5-AD99-C840-BD990AAB74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" y="1757854"/>
            <a:ext cx="10586801" cy="4629421"/>
          </a:xfrm>
        </p:spPr>
      </p:pic>
    </p:spTree>
    <p:extLst>
      <p:ext uri="{BB962C8B-B14F-4D97-AF65-F5344CB8AC3E}">
        <p14:creationId xmlns:p14="http://schemas.microsoft.com/office/powerpoint/2010/main" val="4251653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FFE85F-B5C5-D1D3-CD23-67763C5C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QISKIT NOISLESS SIMULATION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534109FD-C2DC-D1C0-D0CA-D1F6D20479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5043208"/>
              </p:ext>
            </p:extLst>
          </p:nvPr>
        </p:nvGraphicFramePr>
        <p:xfrm>
          <a:off x="579120" y="1843912"/>
          <a:ext cx="10741152" cy="2947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5338324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799989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632630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50089637"/>
                    </a:ext>
                  </a:extLst>
                </a:gridCol>
                <a:gridCol w="2328672">
                  <a:extLst>
                    <a:ext uri="{9D8B030D-6E8A-4147-A177-3AD203B41FA5}">
                      <a16:colId xmlns:a16="http://schemas.microsoft.com/office/drawing/2014/main" val="2243851823"/>
                    </a:ext>
                  </a:extLst>
                </a:gridCol>
              </a:tblGrid>
              <a:tr h="589509">
                <a:tc>
                  <a:txBody>
                    <a:bodyPr/>
                    <a:lstStyle/>
                    <a:p>
                      <a:r>
                        <a:rPr lang="it-IT" dirty="0"/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CLASSIC PROB.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THEORIC GROVER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QISKIT SIMULATION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285696"/>
                  </a:ext>
                </a:extLst>
              </a:tr>
              <a:tr h="589509">
                <a:tc>
                  <a:txBody>
                    <a:bodyPr/>
                    <a:lstStyle/>
                    <a:p>
                      <a:r>
                        <a:rPr lang="it-IT" dirty="0"/>
                        <a:t>VERTICAL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92.76%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595241"/>
                  </a:ext>
                </a:extLst>
              </a:tr>
              <a:tr h="589509">
                <a:tc>
                  <a:txBody>
                    <a:bodyPr/>
                    <a:lstStyle/>
                    <a:p>
                      <a:r>
                        <a:rPr lang="it-IT" dirty="0"/>
                        <a:t>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94.44%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5215547"/>
                  </a:ext>
                </a:extLst>
              </a:tr>
              <a:tr h="589509">
                <a:tc>
                  <a:txBody>
                    <a:bodyPr/>
                    <a:lstStyle/>
                    <a:p>
                      <a:r>
                        <a:rPr lang="it-IT" dirty="0"/>
                        <a:t>DIAGONAL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98.78%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98.82%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539444"/>
                  </a:ext>
                </a:extLst>
              </a:tr>
              <a:tr h="589509">
                <a:tc>
                  <a:txBody>
                    <a:bodyPr/>
                    <a:lstStyle/>
                    <a:p>
                      <a:r>
                        <a:rPr lang="it-IT" dirty="0"/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99.94%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99.95%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927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9112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2D5CB0-CBD7-46DE-6440-257DF782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QISKIT NOISE MODELS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1D84D4-C4AD-A104-9753-7C079D7AE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b="1" dirty="0"/>
              <a:t> Bit-Flip (X </a:t>
            </a:r>
            <a:r>
              <a:rPr lang="it-IT" b="1" dirty="0" err="1"/>
              <a:t>error</a:t>
            </a:r>
            <a:r>
              <a:rPr lang="it-IT" b="1" dirty="0"/>
              <a:t>)</a:t>
            </a:r>
            <a:endParaRPr lang="it-IT" dirty="0"/>
          </a:p>
          <a:p>
            <a:r>
              <a:rPr lang="it-IT" dirty="0"/>
              <a:t>E(rho) = (1-p) * rho + p * X * rho * X</a:t>
            </a:r>
          </a:p>
          <a:p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 err="1"/>
              <a:t>simulation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inverts</a:t>
            </a:r>
            <a:r>
              <a:rPr lang="it-IT" dirty="0"/>
              <a:t> state of the </a:t>
            </a:r>
            <a:r>
              <a:rPr lang="it-IT" dirty="0" err="1"/>
              <a:t>qubit</a:t>
            </a:r>
            <a:r>
              <a:rPr lang="it-IT" dirty="0"/>
              <a:t>: |0&gt; 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|1&gt;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b="1" dirty="0"/>
              <a:t>2.    </a:t>
            </a:r>
            <a:r>
              <a:rPr lang="it-IT" b="1" dirty="0" err="1"/>
              <a:t>Depolarizing</a:t>
            </a:r>
            <a:endParaRPr lang="it-IT" dirty="0"/>
          </a:p>
          <a:p>
            <a:r>
              <a:rPr lang="it-IT" dirty="0"/>
              <a:t>E(rho) = (1-p) * rho + (p/3) * (X*rho*X + Y*rho*Y + Z*rho*Z)</a:t>
            </a:r>
          </a:p>
          <a:p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 err="1"/>
              <a:t>simulation</a:t>
            </a:r>
            <a:r>
              <a:rPr lang="it-IT" dirty="0"/>
              <a:t> on 3 </a:t>
            </a:r>
            <a:r>
              <a:rPr lang="it-IT" dirty="0" err="1"/>
              <a:t>directions</a:t>
            </a:r>
            <a:r>
              <a:rPr lang="it-IT" dirty="0"/>
              <a:t> (X,Y,Z). More </a:t>
            </a:r>
            <a:r>
              <a:rPr lang="it-IT" dirty="0" err="1"/>
              <a:t>dangerous</a:t>
            </a:r>
            <a:r>
              <a:rPr lang="it-IT" dirty="0"/>
              <a:t>.</a:t>
            </a:r>
          </a:p>
          <a:p>
            <a:endParaRPr lang="it-IT" dirty="0"/>
          </a:p>
          <a:p>
            <a:r>
              <a:rPr lang="it-IT" b="1" dirty="0" err="1"/>
              <a:t>Probabilities</a:t>
            </a:r>
            <a:r>
              <a:rPr lang="it-IT" b="1" dirty="0"/>
              <a:t> </a:t>
            </a:r>
            <a:r>
              <a:rPr lang="it-IT" b="1" dirty="0" err="1"/>
              <a:t>error</a:t>
            </a:r>
            <a:r>
              <a:rPr lang="it-IT" b="1" dirty="0"/>
              <a:t>:</a:t>
            </a:r>
            <a:r>
              <a:rPr lang="it-IT" dirty="0"/>
              <a:t> p = 0.001, 0.005, 0.01, 0.02, 0.05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587682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89F22B-DD1A-67A0-17F7-42D73E38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600" dirty="0"/>
              <a:t>QISKIT NOISELESS VS BIT FLIP VS DEPOLARIZING</a:t>
            </a:r>
          </a:p>
        </p:txBody>
      </p:sp>
      <p:pic>
        <p:nvPicPr>
          <p:cNvPr id="5" name="Immagine 4" descr="Immagine che contiene testo, diagramma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908703CA-BC45-A52C-CB1E-C0DA97DC6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941" y="1348740"/>
            <a:ext cx="9300117" cy="55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81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1C9611-167F-C78C-CDEE-ED7FBFB0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QISKIT REAL HARDWARE (FAKEKOLKATA)</a:t>
            </a:r>
          </a:p>
        </p:txBody>
      </p:sp>
      <p:pic>
        <p:nvPicPr>
          <p:cNvPr id="5" name="Segnaposto contenuto 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7082E78C-85CE-DF04-5A5A-D5138BB6F8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74" y="1681544"/>
            <a:ext cx="5848492" cy="4351338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BFDB5B0-C487-66B4-0881-B90963C94C50}"/>
              </a:ext>
            </a:extLst>
          </p:cNvPr>
          <p:cNvSpPr txBox="1"/>
          <p:nvPr/>
        </p:nvSpPr>
        <p:spPr>
          <a:xfrm>
            <a:off x="7150608" y="2039112"/>
            <a:ext cx="462306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/>
              <a:t>Fakekolkata</a:t>
            </a:r>
            <a:r>
              <a:rPr lang="it-IT" sz="2000" dirty="0"/>
              <a:t> </a:t>
            </a:r>
            <a:r>
              <a:rPr lang="it-IT" sz="2000" dirty="0" err="1"/>
              <a:t>simulates</a:t>
            </a:r>
            <a:r>
              <a:rPr lang="it-IT" sz="2000" dirty="0"/>
              <a:t> </a:t>
            </a:r>
            <a:r>
              <a:rPr lang="it-IT" sz="2000" dirty="0" err="1"/>
              <a:t>real</a:t>
            </a:r>
            <a:r>
              <a:rPr lang="it-IT" sz="2000" dirty="0"/>
              <a:t> quantum </a:t>
            </a:r>
          </a:p>
          <a:p>
            <a:r>
              <a:rPr lang="it-IT" sz="2000" dirty="0"/>
              <a:t>hardware. </a:t>
            </a:r>
            <a:r>
              <a:rPr lang="it-IT" sz="2000" dirty="0" err="1"/>
              <a:t>It</a:t>
            </a:r>
            <a:r>
              <a:rPr lang="it-IT" sz="2000" dirty="0"/>
              <a:t> </a:t>
            </a:r>
            <a:r>
              <a:rPr lang="it-IT" sz="2000" dirty="0" err="1"/>
              <a:t>simulates</a:t>
            </a:r>
            <a:r>
              <a:rPr lang="it-IT" sz="2000" dirty="0"/>
              <a:t> </a:t>
            </a:r>
            <a:r>
              <a:rPr lang="it-IT" sz="2000" dirty="0" err="1"/>
              <a:t>all</a:t>
            </a:r>
            <a:r>
              <a:rPr lang="it-IT" sz="2000" dirty="0"/>
              <a:t> </a:t>
            </a:r>
            <a:r>
              <a:rPr lang="it-IT" sz="2000" dirty="0" err="1"/>
              <a:t>error</a:t>
            </a:r>
            <a:r>
              <a:rPr lang="it-IT" sz="2000" dirty="0"/>
              <a:t> </a:t>
            </a:r>
            <a:r>
              <a:rPr lang="it-IT" sz="2000" dirty="0" err="1"/>
              <a:t>channel</a:t>
            </a:r>
            <a:r>
              <a:rPr lang="it-IT" sz="2000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Bit-flip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 err="1"/>
              <a:t>Depolarizing</a:t>
            </a:r>
            <a:endParaRPr lang="it-IT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T1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b="1" dirty="0"/>
              <a:t>T2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r>
              <a:rPr lang="it-IT" sz="2000" dirty="0" err="1"/>
              <a:t>It</a:t>
            </a:r>
            <a:r>
              <a:rPr lang="it-IT" sz="2000" dirty="0"/>
              <a:t>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even</a:t>
            </a:r>
            <a:r>
              <a:rPr lang="it-IT" sz="2000" dirty="0"/>
              <a:t> </a:t>
            </a:r>
            <a:r>
              <a:rPr lang="it-IT" sz="2000" b="1" dirty="0" err="1"/>
              <a:t>worst</a:t>
            </a:r>
            <a:r>
              <a:rPr lang="it-IT" sz="2000" dirty="0"/>
              <a:t> </a:t>
            </a:r>
            <a:r>
              <a:rPr lang="it-IT" sz="2000" dirty="0" err="1"/>
              <a:t>than</a:t>
            </a:r>
            <a:r>
              <a:rPr lang="it-IT" sz="2000" dirty="0"/>
              <a:t> the </a:t>
            </a:r>
            <a:r>
              <a:rPr lang="it-IT" sz="2000" dirty="0" err="1"/>
              <a:t>classical</a:t>
            </a:r>
            <a:r>
              <a:rPr lang="it-IT" sz="2000" dirty="0"/>
              <a:t> case.</a:t>
            </a:r>
          </a:p>
        </p:txBody>
      </p:sp>
    </p:spTree>
    <p:extLst>
      <p:ext uri="{BB962C8B-B14F-4D97-AF65-F5344CB8AC3E}">
        <p14:creationId xmlns:p14="http://schemas.microsoft.com/office/powerpoint/2010/main" val="3443381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3A27F2-C13F-E28A-5C50-D50317C9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JULIA: QUANTUM SAVORY NOISE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8D96CE-AC3B-B455-3809-07D923C4B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b="1" dirty="0" err="1"/>
              <a:t>Qiskit</a:t>
            </a:r>
            <a:r>
              <a:rPr lang="it-IT" dirty="0"/>
              <a:t> (</a:t>
            </a:r>
            <a:r>
              <a:rPr lang="it-IT" b="1" dirty="0"/>
              <a:t>discrete</a:t>
            </a:r>
            <a:r>
              <a:rPr lang="it-IT" dirty="0"/>
              <a:t> </a:t>
            </a:r>
            <a:r>
              <a:rPr lang="it-IT" b="1" dirty="0"/>
              <a:t>model</a:t>
            </a:r>
            <a:r>
              <a:rPr lang="it-IT" dirty="0"/>
              <a:t>): </a:t>
            </a:r>
            <a:r>
              <a:rPr lang="en-US" dirty="0"/>
              <a:t>Simulate the circuit step by step. Noise is applied as an "error probability" associated with each logic gate (for example, a 1% error each time a CNOT gate is used).</a:t>
            </a:r>
          </a:p>
          <a:p>
            <a:endParaRPr lang="en-US" dirty="0"/>
          </a:p>
          <a:p>
            <a:r>
              <a:rPr lang="it-IT" b="1" dirty="0" err="1"/>
              <a:t>QuantumSavory</a:t>
            </a:r>
            <a:r>
              <a:rPr lang="it-IT" b="1" dirty="0"/>
              <a:t> (</a:t>
            </a:r>
            <a:r>
              <a:rPr lang="it-IT" b="1" dirty="0" err="1"/>
              <a:t>Continuous</a:t>
            </a:r>
            <a:r>
              <a:rPr lang="it-IT" b="1" dirty="0"/>
              <a:t> </a:t>
            </a:r>
            <a:r>
              <a:rPr lang="it-IT" b="1" dirty="0" err="1"/>
              <a:t>Physical</a:t>
            </a:r>
            <a:r>
              <a:rPr lang="it-IT" b="1" dirty="0"/>
              <a:t> Model):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on </a:t>
            </a:r>
            <a:r>
              <a:rPr lang="it-IT" dirty="0" err="1"/>
              <a:t>QuantumOpticsBase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simulates</a:t>
            </a:r>
            <a:r>
              <a:rPr lang="it-IT" dirty="0"/>
              <a:t> the </a:t>
            </a:r>
            <a:r>
              <a:rPr lang="it-IT" dirty="0" err="1"/>
              <a:t>evolution</a:t>
            </a:r>
            <a:r>
              <a:rPr lang="it-IT" dirty="0"/>
              <a:t> of the quantum system in </a:t>
            </a:r>
            <a:r>
              <a:rPr lang="it-IT" b="1" dirty="0" err="1"/>
              <a:t>real</a:t>
            </a:r>
            <a:r>
              <a:rPr lang="it-IT" b="1" dirty="0"/>
              <a:t> time</a:t>
            </a:r>
            <a:r>
              <a:rPr lang="it-IT" dirty="0"/>
              <a:t>. </a:t>
            </a:r>
            <a:r>
              <a:rPr lang="it-IT" dirty="0" err="1"/>
              <a:t>Qubits</a:t>
            </a:r>
            <a:r>
              <a:rPr lang="it-IT" dirty="0"/>
              <a:t> </a:t>
            </a:r>
            <a:r>
              <a:rPr lang="it-IT" dirty="0" err="1"/>
              <a:t>decay</a:t>
            </a:r>
            <a:r>
              <a:rPr lang="it-IT" dirty="0"/>
              <a:t> </a:t>
            </a:r>
            <a:r>
              <a:rPr lang="it-IT" dirty="0" err="1"/>
              <a:t>constantly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time </a:t>
            </a:r>
            <a:r>
              <a:rPr lang="it-IT" dirty="0" err="1"/>
              <a:t>passes</a:t>
            </a:r>
            <a:r>
              <a:rPr lang="it-IT" dirty="0"/>
              <a:t>,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closer</a:t>
            </a:r>
            <a:r>
              <a:rPr lang="it-IT" dirty="0"/>
              <a:t> to the </a:t>
            </a:r>
            <a:r>
              <a:rPr lang="it-IT" dirty="0" err="1"/>
              <a:t>behavior</a:t>
            </a:r>
            <a:r>
              <a:rPr lang="it-IT" dirty="0"/>
              <a:t> of </a:t>
            </a:r>
            <a:r>
              <a:rPr lang="it-IT" dirty="0" err="1"/>
              <a:t>real</a:t>
            </a:r>
            <a:r>
              <a:rPr lang="it-IT" dirty="0"/>
              <a:t> quantum .</a:t>
            </a:r>
          </a:p>
          <a:p>
            <a:endParaRPr lang="it-IT" dirty="0"/>
          </a:p>
          <a:p>
            <a:r>
              <a:rPr lang="en-US" b="1" dirty="0"/>
              <a:t>Noise Model:</a:t>
            </a:r>
            <a:r>
              <a:rPr lang="en-US" dirty="0"/>
              <a:t> For this simulation, we exclusively used the continuous </a:t>
            </a:r>
            <a:r>
              <a:rPr lang="en-US" b="1" dirty="0"/>
              <a:t>Depolarization</a:t>
            </a:r>
            <a:r>
              <a:rPr lang="en-US" dirty="0"/>
              <a:t> model, since </a:t>
            </a:r>
            <a:r>
              <a:rPr lang="en-US" b="1" dirty="0"/>
              <a:t>Bitflip</a:t>
            </a:r>
            <a:r>
              <a:rPr lang="en-US" dirty="0"/>
              <a:t> is not yet supported.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332639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22E64C-B813-9583-B583-AC45BB600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JULIA: SYSTEM CONSTRUCTION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D679C0-A8DC-DD92-9FC9-9065542EC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2161"/>
            <a:ext cx="10515600" cy="435133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it-IT" altLang="it-IT" sz="2400" b="1" dirty="0">
                <a:latin typeface="Google Sans Text"/>
              </a:rPr>
              <a:t>1. Hilbert Space Setup: </a:t>
            </a:r>
            <a:r>
              <a:rPr lang="it-IT" altLang="it-IT" sz="2400" dirty="0">
                <a:latin typeface="Google Sans Text"/>
              </a:rPr>
              <a:t>Definition of a 9-qubit system (</a:t>
            </a:r>
            <a:r>
              <a:rPr lang="it-IT" altLang="it-IT" sz="2400" dirty="0" err="1">
                <a:latin typeface="Google Sans Text"/>
              </a:rPr>
              <a:t>without</a:t>
            </a:r>
            <a:r>
              <a:rPr lang="it-IT" altLang="it-IT" sz="2400" dirty="0">
                <a:latin typeface="Google Sans Text"/>
              </a:rPr>
              <a:t> ancilla) for a 3x3 </a:t>
            </a:r>
            <a:r>
              <a:rPr lang="it-IT" altLang="it-IT" sz="2400" dirty="0" err="1">
                <a:latin typeface="Google Sans Text"/>
              </a:rPr>
              <a:t>grid</a:t>
            </a:r>
            <a:r>
              <a:rPr lang="it-IT" altLang="it-IT" sz="2400" dirty="0">
                <a:latin typeface="Google Sans Text"/>
              </a:rPr>
              <a:t>, </a:t>
            </a:r>
            <a:r>
              <a:rPr lang="it-IT" altLang="it-IT" sz="2400" dirty="0" err="1">
                <a:latin typeface="Google Sans Text"/>
              </a:rPr>
              <a:t>which</a:t>
            </a:r>
            <a:r>
              <a:rPr lang="it-IT" altLang="it-IT" sz="2400" dirty="0">
                <a:latin typeface="Google Sans Text"/>
              </a:rPr>
              <a:t> </a:t>
            </a:r>
            <a:r>
              <a:rPr lang="it-IT" altLang="it-IT" sz="2400" dirty="0" err="1">
                <a:latin typeface="Google Sans Text"/>
              </a:rPr>
              <a:t>generates</a:t>
            </a:r>
            <a:r>
              <a:rPr lang="it-IT" altLang="it-IT" sz="2400" dirty="0">
                <a:latin typeface="Google Sans Text"/>
              </a:rPr>
              <a:t> a 512-dimensional Hilbert </a:t>
            </a:r>
            <a:r>
              <a:rPr lang="it-IT" altLang="it-IT" sz="2400" dirty="0" err="1">
                <a:latin typeface="Google Sans Text"/>
              </a:rPr>
              <a:t>space</a:t>
            </a:r>
            <a:r>
              <a:rPr lang="it-IT" altLang="it-IT" sz="2400" dirty="0">
                <a:latin typeface="Google Sans Text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it-IT" altLang="it-IT" sz="24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it-IT" sz="2400" b="1" dirty="0"/>
              <a:t>2. </a:t>
            </a:r>
            <a:r>
              <a:rPr lang="it-IT" sz="2400" b="1" dirty="0" err="1"/>
              <a:t>Register</a:t>
            </a:r>
            <a:r>
              <a:rPr lang="it-IT" sz="2400" b="1" dirty="0"/>
              <a:t> </a:t>
            </a:r>
            <a:r>
              <a:rPr lang="it-IT" sz="2400" b="1" dirty="0" err="1"/>
              <a:t>Creation</a:t>
            </a:r>
            <a:r>
              <a:rPr lang="it-IT" sz="2400" b="1" dirty="0"/>
              <a:t>: </a:t>
            </a:r>
            <a:r>
              <a:rPr lang="it-IT" sz="2400" dirty="0" err="1"/>
              <a:t>Each</a:t>
            </a:r>
            <a:r>
              <a:rPr lang="it-IT" sz="2400" dirty="0"/>
              <a:t> </a:t>
            </a:r>
            <a:r>
              <a:rPr lang="it-IT" sz="2400" dirty="0" err="1"/>
              <a:t>qubit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initialized</a:t>
            </a:r>
            <a:r>
              <a:rPr lang="it-IT" sz="2400" dirty="0"/>
              <a:t> </a:t>
            </a:r>
            <a:r>
              <a:rPr lang="it-IT" sz="2400" dirty="0" err="1"/>
              <a:t>using</a:t>
            </a:r>
            <a:r>
              <a:rPr lang="it-IT" sz="2400" dirty="0"/>
              <a:t> the </a:t>
            </a:r>
            <a:r>
              <a:rPr lang="it-IT" sz="2400" dirty="0" err="1"/>
              <a:t>QuantumOptics</a:t>
            </a:r>
            <a:r>
              <a:rPr lang="it-IT" sz="2400" dirty="0"/>
              <a:t> </a:t>
            </a:r>
            <a:r>
              <a:rPr lang="it-IT" sz="2400" dirty="0" err="1"/>
              <a:t>reprepresentation</a:t>
            </a:r>
            <a:r>
              <a:rPr lang="it-IT" sz="2400" dirty="0"/>
              <a:t> to handle non-Clifford </a:t>
            </a:r>
            <a:r>
              <a:rPr lang="it-IT" sz="2400" dirty="0" err="1"/>
              <a:t>operations</a:t>
            </a:r>
            <a:r>
              <a:rPr lang="it-IT" sz="2400" dirty="0"/>
              <a:t> (</a:t>
            </a:r>
            <a:r>
              <a:rPr lang="it-IT" sz="2400" dirty="0" err="1"/>
              <a:t>essential</a:t>
            </a:r>
            <a:r>
              <a:rPr lang="it-IT" sz="2400" dirty="0"/>
              <a:t> for Grover) and </a:t>
            </a:r>
            <a:r>
              <a:rPr lang="it-IT" sz="2400" dirty="0" err="1"/>
              <a:t>directly</a:t>
            </a:r>
            <a:r>
              <a:rPr lang="it-IT" sz="2400" dirty="0"/>
              <a:t> </a:t>
            </a:r>
            <a:r>
              <a:rPr lang="it-IT" sz="2400" dirty="0" err="1"/>
              <a:t>manipulate</a:t>
            </a:r>
            <a:r>
              <a:rPr lang="it-IT" sz="2400" dirty="0"/>
              <a:t> the </a:t>
            </a:r>
            <a:r>
              <a:rPr lang="it-IT" sz="2400" dirty="0" err="1"/>
              <a:t>Density</a:t>
            </a:r>
            <a:r>
              <a:rPr lang="it-IT" sz="2400" dirty="0"/>
              <a:t> Matrix.</a:t>
            </a:r>
          </a:p>
          <a:p>
            <a:pPr marL="0" indent="0">
              <a:buNone/>
            </a:pPr>
            <a:endParaRPr lang="it-IT" sz="2400" dirty="0"/>
          </a:p>
          <a:p>
            <a:pPr marL="0" indent="0">
              <a:buNone/>
            </a:pPr>
            <a:endParaRPr lang="it-IT" sz="2400" dirty="0"/>
          </a:p>
          <a:p>
            <a:endParaRPr lang="it-IT" sz="24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DCCD90D-2F90-1DB6-294E-2D9DA2A4B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072" y="3994693"/>
            <a:ext cx="6704943" cy="264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93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BB9227-FFD0-0C22-756F-63C37726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JULIA: THE CORE SIMULATION LOOP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E68997-9572-80EF-138B-E61C3A0A4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b="1" dirty="0"/>
              <a:t>EXECUTING GROVER</a:t>
            </a:r>
          </a:p>
          <a:p>
            <a:pPr marL="0" indent="0">
              <a:buNone/>
            </a:pPr>
            <a:br>
              <a:rPr lang="en-US" b="1" dirty="0"/>
            </a:br>
            <a:r>
              <a:rPr lang="en-US" sz="2400" b="1" dirty="0"/>
              <a:t>The Internal Clock (t)</a:t>
            </a:r>
            <a:endParaRPr lang="en-US" sz="2400" dirty="0"/>
          </a:p>
          <a:p>
            <a:pPr lvl="1"/>
            <a:r>
              <a:rPr lang="en-US" dirty="0"/>
              <a:t>Unlike static circuits, the </a:t>
            </a:r>
            <a:r>
              <a:rPr lang="en-US" i="1" dirty="0" err="1"/>
              <a:t>run_grover</a:t>
            </a:r>
            <a:r>
              <a:rPr lang="en-US" i="1" dirty="0"/>
              <a:t> </a:t>
            </a:r>
            <a:r>
              <a:rPr lang="en-US" dirty="0"/>
              <a:t>function relies on a continuous clock variable (t = 0.0) that tracks the physical time elapsed.</a:t>
            </a:r>
          </a:p>
          <a:p>
            <a:pPr lvl="1"/>
            <a:r>
              <a:rPr lang="en-US" dirty="0"/>
              <a:t>Every initialization and basic gate increments this clock.</a:t>
            </a:r>
          </a:p>
          <a:p>
            <a:pPr lvl="1"/>
            <a:r>
              <a:rPr lang="en-US" dirty="0"/>
              <a:t>During the Grover iterations, we advance the clock by the Oracle's specific "weight" (t += </a:t>
            </a:r>
            <a:r>
              <a:rPr lang="en-US" dirty="0" err="1"/>
              <a:t>oracle_time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We call </a:t>
            </a:r>
            <a:r>
              <a:rPr lang="en-US" dirty="0" err="1"/>
              <a:t>uptotime</a:t>
            </a:r>
            <a:r>
              <a:rPr lang="en-US" dirty="0"/>
              <a:t>!(reg[</a:t>
            </a:r>
            <a:r>
              <a:rPr lang="en-US" dirty="0" err="1"/>
              <a:t>i</a:t>
            </a:r>
            <a:r>
              <a:rPr lang="en-US" dirty="0"/>
              <a:t>], t). This commands </a:t>
            </a:r>
            <a:r>
              <a:rPr lang="en-US" dirty="0" err="1"/>
              <a:t>QuantumSavory</a:t>
            </a:r>
            <a:r>
              <a:rPr lang="en-US" dirty="0"/>
              <a:t> to apply noise until current time.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98468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FF93B4-B009-8CB9-DD40-CD502BBDC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JULIA: CALIBRATING TIME FOR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6800FA4-54CE-4206-BDFF-DA6291CBC0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85882"/>
                <a:ext cx="10515600" cy="4979509"/>
              </a:xfrm>
            </p:spPr>
            <p:txBody>
              <a:bodyPr>
                <a:normAutofit/>
              </a:bodyPr>
              <a:lstStyle/>
              <a:p>
                <a:r>
                  <a:rPr lang="it-IT" dirty="0"/>
                  <a:t>Qiskit: p = </a:t>
                </a:r>
                <a:r>
                  <a:rPr lang="it-IT" dirty="0" err="1"/>
                  <a:t>probability</a:t>
                </a:r>
                <a:r>
                  <a:rPr lang="it-IT" dirty="0"/>
                  <a:t> </a:t>
                </a:r>
                <a:r>
                  <a:rPr lang="it-IT" dirty="0" err="1"/>
                  <a:t>error</a:t>
                </a:r>
                <a:r>
                  <a:rPr lang="it-IT" dirty="0"/>
                  <a:t> on single </a:t>
                </a:r>
                <a:r>
                  <a:rPr lang="it-IT" b="1" dirty="0"/>
                  <a:t>gate</a:t>
                </a:r>
                <a:r>
                  <a:rPr lang="it-IT" dirty="0"/>
                  <a:t>.</a:t>
                </a:r>
                <a:r>
                  <a:rPr lang="it-IT" b="1" dirty="0"/>
                  <a:t> </a:t>
                </a:r>
                <a:r>
                  <a:rPr lang="it-IT" dirty="0"/>
                  <a:t>50 gate </a:t>
                </a:r>
                <a:r>
                  <a:rPr lang="it-IT" dirty="0">
                    <a:sym typeface="Wingdings" panose="05000000000000000000" pitchFamily="2" charset="2"/>
                  </a:rPr>
                  <a:t> </a:t>
                </a:r>
                <a:r>
                  <a:rPr lang="it-IT" dirty="0" err="1">
                    <a:sym typeface="Wingdings" panose="05000000000000000000" pitchFamily="2" charset="2"/>
                  </a:rPr>
                  <a:t>noise</a:t>
                </a:r>
                <a:r>
                  <a:rPr lang="it-IT" dirty="0">
                    <a:sym typeface="Wingdings" panose="05000000000000000000" pitchFamily="2" charset="2"/>
                  </a:rPr>
                  <a:t> = 50 x p</a:t>
                </a:r>
              </a:p>
              <a:p>
                <a:r>
                  <a:rPr lang="it-IT" dirty="0" err="1">
                    <a:sym typeface="Wingdings" panose="05000000000000000000" pitchFamily="2" charset="2"/>
                  </a:rPr>
                  <a:t>QuantumSavory</a:t>
                </a:r>
                <a:r>
                  <a:rPr lang="it-IT" dirty="0">
                    <a:sym typeface="Wingdings" panose="05000000000000000000" pitchFamily="2" charset="2"/>
                  </a:rPr>
                  <a:t>: </a:t>
                </a:r>
                <a:r>
                  <a:rPr lang="it-IT" b="1" dirty="0" err="1">
                    <a:sym typeface="Wingdings" panose="05000000000000000000" pitchFamily="2" charset="2"/>
                  </a:rPr>
                  <a:t>continuos</a:t>
                </a:r>
                <a:r>
                  <a:rPr lang="it-IT" dirty="0">
                    <a:sym typeface="Wingdings" panose="05000000000000000000" pitchFamily="2" charset="2"/>
                  </a:rPr>
                  <a:t> </a:t>
                </a:r>
                <a:r>
                  <a:rPr lang="it-IT" dirty="0" err="1">
                    <a:sym typeface="Wingdings" panose="05000000000000000000" pitchFamily="2" charset="2"/>
                  </a:rPr>
                  <a:t>noise</a:t>
                </a:r>
                <a:r>
                  <a:rPr lang="it-IT" dirty="0">
                    <a:sym typeface="Wingdings" panose="05000000000000000000" pitchFamily="2" charset="2"/>
                  </a:rPr>
                  <a:t> with </a:t>
                </a:r>
                <a:r>
                  <a:rPr lang="it-IT" dirty="0" err="1">
                    <a:sym typeface="Wingdings" panose="05000000000000000000" pitchFamily="2" charset="2"/>
                  </a:rPr>
                  <a:t>exponential</a:t>
                </a:r>
                <a:r>
                  <a:rPr lang="it-IT" dirty="0">
                    <a:sym typeface="Wingdings" panose="05000000000000000000" pitchFamily="2" charset="2"/>
                  </a:rPr>
                  <a:t> </a:t>
                </a:r>
                <a:r>
                  <a:rPr lang="it-IT" dirty="0" err="1">
                    <a:sym typeface="Wingdings" panose="05000000000000000000" pitchFamily="2" charset="2"/>
                  </a:rPr>
                  <a:t>decay</a:t>
                </a:r>
                <a:r>
                  <a:rPr lang="it-IT" dirty="0">
                    <a:sym typeface="Wingdings" panose="05000000000000000000" pitchFamily="2" charset="2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=1 − 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el-GR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it-IT" dirty="0"/>
              </a:p>
              <a:p>
                <a:pPr marL="0" indent="0">
                  <a:buNone/>
                </a:pPr>
                <a:r>
                  <a:rPr lang="it-IT" dirty="0" err="1"/>
                  <a:t>Now</a:t>
                </a:r>
                <a:r>
                  <a:rPr lang="it-IT" dirty="0"/>
                  <a:t> </a:t>
                </a:r>
                <a:r>
                  <a:rPr lang="it-IT" dirty="0" err="1"/>
                  <a:t>we</a:t>
                </a:r>
                <a:r>
                  <a:rPr lang="it-IT" dirty="0"/>
                  <a:t> can calibrate </a:t>
                </a:r>
                <a:r>
                  <a:rPr lang="el-GR" dirty="0"/>
                  <a:t>τ</a:t>
                </a:r>
                <a:r>
                  <a:rPr lang="it-IT" dirty="0"/>
                  <a:t> so </a:t>
                </a:r>
                <a:r>
                  <a:rPr lang="it-IT" dirty="0" err="1"/>
                  <a:t>that</a:t>
                </a:r>
                <a:r>
                  <a:rPr lang="it-IT" dirty="0"/>
                  <a:t> in 1 </a:t>
                </a:r>
                <a:r>
                  <a:rPr lang="it-IT" dirty="0" err="1"/>
                  <a:t>unit</a:t>
                </a:r>
                <a:r>
                  <a:rPr lang="it-IT" dirty="0"/>
                  <a:t> of time, i </a:t>
                </a:r>
                <a:r>
                  <a:rPr lang="it-IT" dirty="0" err="1"/>
                  <a:t>have</a:t>
                </a:r>
                <a:r>
                  <a:rPr lang="it-IT" dirty="0"/>
                  <a:t> </a:t>
                </a:r>
                <a:r>
                  <a:rPr lang="it-IT" dirty="0" err="1"/>
                  <a:t>probability</a:t>
                </a:r>
                <a:r>
                  <a:rPr lang="it-IT" dirty="0"/>
                  <a:t> p:</a:t>
                </a:r>
                <a:br>
                  <a:rPr lang="it-IT" dirty="0"/>
                </a:br>
                <a:endParaRPr lang="it-IT" dirty="0"/>
              </a:p>
              <a:p>
                <a:pPr>
                  <a:lnSpc>
                    <a:spcPts val="1425"/>
                  </a:lnSpc>
                  <a:buNone/>
                </a:pP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                                   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=1 − </m:t>
                    </m:r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den>
                            </m:f>
                          </m:e>
                        </m:d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>
                    <a:sym typeface="Wingdings" panose="05000000000000000000" pitchFamily="2" charset="2"/>
                  </a:rPr>
                  <a:t>    </a:t>
                </a:r>
                <a:r>
                  <a:rPr lang="it-IT" dirty="0"/>
                  <a:t>    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⁡(1.0 −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it-IT" b="0" dirty="0"/>
              </a:p>
              <a:p>
                <a:pPr>
                  <a:lnSpc>
                    <a:spcPts val="1425"/>
                  </a:lnSpc>
                  <a:buNone/>
                </a:pPr>
                <a:endParaRPr lang="it-IT" b="0" dirty="0"/>
              </a:p>
              <a:p>
                <a:pPr>
                  <a:lnSpc>
                    <a:spcPts val="1425"/>
                  </a:lnSpc>
                  <a:buNone/>
                </a:pPr>
                <a:br>
                  <a:rPr lang="it-IT" dirty="0"/>
                </a:br>
                <a:r>
                  <a:rPr lang="it-IT" sz="1500" dirty="0" err="1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compute_tau_per_gate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(p::Float64) = -</a:t>
                </a:r>
                <a:r>
                  <a:rPr lang="it-IT" sz="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1.0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 / log(</a:t>
                </a:r>
                <a:r>
                  <a:rPr lang="it-IT" sz="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1.0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 - p)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  </a:t>
                </a:r>
                <a:r>
                  <a:rPr lang="el-GR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τ_</a:t>
                </a:r>
                <a:r>
                  <a:rPr lang="it-IT" sz="1500" dirty="0" err="1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values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 = [(</a:t>
                </a:r>
                <a:r>
                  <a:rPr lang="it-IT" sz="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0.001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, </a:t>
                </a:r>
                <a:r>
                  <a:rPr lang="it-IT" sz="1500" dirty="0" err="1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compute_tau_per_gate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it-IT" sz="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0.001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)),  </a:t>
                </a:r>
                <a:r>
                  <a:rPr lang="it-IT" sz="1500" dirty="0">
                    <a:solidFill>
                      <a:schemeClr val="accent3"/>
                    </a:solidFill>
                    <a:latin typeface="Consolas" panose="020B0609020204030204" pitchFamily="49" charset="0"/>
                  </a:rPr>
                  <a:t># </a:t>
                </a:r>
                <a:r>
                  <a:rPr lang="el-GR" sz="1500" dirty="0">
                    <a:solidFill>
                      <a:schemeClr val="accent3"/>
                    </a:solidFill>
                    <a:latin typeface="Consolas" panose="020B0609020204030204" pitchFamily="49" charset="0"/>
                  </a:rPr>
                  <a:t>τ ≈ 999.5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l-GR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        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	     </a:t>
                </a:r>
                <a:r>
                  <a:rPr lang="el-GR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l-GR" sz="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0.005</a:t>
                </a:r>
                <a:r>
                  <a:rPr lang="el-GR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, </a:t>
                </a:r>
                <a:r>
                  <a:rPr lang="it-IT" sz="1500" dirty="0" err="1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compute_tau_per_gate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it-IT" sz="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0.005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)),  </a:t>
                </a:r>
                <a:r>
                  <a:rPr lang="it-IT" sz="1500" dirty="0">
                    <a:solidFill>
                      <a:schemeClr val="accent3"/>
                    </a:solidFill>
                    <a:latin typeface="Consolas" panose="020B0609020204030204" pitchFamily="49" charset="0"/>
                  </a:rPr>
                  <a:t># </a:t>
                </a:r>
                <a:r>
                  <a:rPr lang="el-GR" sz="1500" dirty="0">
                    <a:solidFill>
                      <a:schemeClr val="accent3"/>
                    </a:solidFill>
                    <a:latin typeface="Consolas" panose="020B0609020204030204" pitchFamily="49" charset="0"/>
                  </a:rPr>
                  <a:t>τ ≈ 199.5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l-GR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        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	     </a:t>
                </a:r>
                <a:r>
                  <a:rPr lang="el-GR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l-GR" sz="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0.01</a:t>
                </a:r>
                <a:r>
                  <a:rPr lang="el-GR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,  </a:t>
                </a:r>
                <a:r>
                  <a:rPr lang="it-IT" sz="1500" dirty="0" err="1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compute_tau_per_gate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it-IT" sz="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0.01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)),   </a:t>
                </a:r>
                <a:r>
                  <a:rPr lang="it-IT" sz="1500" dirty="0">
                    <a:solidFill>
                      <a:schemeClr val="accent3"/>
                    </a:solidFill>
                    <a:latin typeface="Consolas" panose="020B0609020204030204" pitchFamily="49" charset="0"/>
                  </a:rPr>
                  <a:t># </a:t>
                </a:r>
                <a:r>
                  <a:rPr lang="el-GR" sz="1500" dirty="0">
                    <a:solidFill>
                      <a:schemeClr val="accent3"/>
                    </a:solidFill>
                    <a:latin typeface="Consolas" panose="020B0609020204030204" pitchFamily="49" charset="0"/>
                  </a:rPr>
                  <a:t>τ ≈ 99.5</a:t>
                </a:r>
              </a:p>
              <a:p>
                <a:pPr>
                  <a:lnSpc>
                    <a:spcPts val="1425"/>
                  </a:lnSpc>
                  <a:buNone/>
                </a:pPr>
                <a:r>
                  <a:rPr lang="el-GR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        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      </a:t>
                </a:r>
                <a:r>
                  <a:rPr lang="el-GR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el-GR" sz="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0.05</a:t>
                </a:r>
                <a:r>
                  <a:rPr lang="el-GR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,  </a:t>
                </a:r>
                <a:r>
                  <a:rPr lang="it-IT" sz="1500" dirty="0" err="1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compute_tau_per_gate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(</a:t>
                </a:r>
                <a:r>
                  <a:rPr lang="it-IT" sz="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0.05</a:t>
                </a:r>
                <a:r>
                  <a:rPr lang="it-IT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))    </a:t>
                </a:r>
                <a:r>
                  <a:rPr lang="it-IT" sz="1500" dirty="0">
                    <a:solidFill>
                      <a:schemeClr val="accent3"/>
                    </a:solidFill>
                    <a:latin typeface="Consolas" panose="020B0609020204030204" pitchFamily="49" charset="0"/>
                  </a:rPr>
                  <a:t># </a:t>
                </a:r>
                <a:r>
                  <a:rPr lang="el-GR" sz="1500" dirty="0">
                    <a:solidFill>
                      <a:schemeClr val="accent3"/>
                    </a:solidFill>
                    <a:latin typeface="Consolas" panose="020B0609020204030204" pitchFamily="49" charset="0"/>
                  </a:rPr>
                  <a:t>τ ≈ 19.5</a:t>
                </a:r>
                <a:r>
                  <a:rPr lang="el-GR" sz="1500" dirty="0">
                    <a:solidFill>
                      <a:schemeClr val="bg2">
                        <a:lumMod val="10000"/>
                      </a:schemeClr>
                    </a:solidFill>
                    <a:latin typeface="Consolas" panose="020B0609020204030204" pitchFamily="49" charset="0"/>
                  </a:rPr>
                  <a:t>]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D6800FA4-54CE-4206-BDFF-DA6291CBC0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85882"/>
                <a:ext cx="10515600" cy="4979509"/>
              </a:xfrm>
              <a:blipFill>
                <a:blip r:embed="rId2"/>
                <a:stretch>
                  <a:fillRect l="-1217" t="-2448" r="-11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8735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A939FD-2069-6815-F7A0-4121E919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JULIA: CALIBRATING TIME FOR NOISE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D2166D-4A56-9E55-114B-4A3E3FE6C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In </a:t>
            </a:r>
            <a:r>
              <a:rPr lang="it-IT" dirty="0" err="1"/>
              <a:t>this</a:t>
            </a:r>
            <a:r>
              <a:rPr lang="it-IT" dirty="0"/>
              <a:t> way the Oracle </a:t>
            </a:r>
            <a:r>
              <a:rPr lang="it-IT" dirty="0" err="1"/>
              <a:t>cumulates</a:t>
            </a:r>
            <a:r>
              <a:rPr lang="it-IT" dirty="0"/>
              <a:t> </a:t>
            </a:r>
            <a:r>
              <a:rPr lang="it-IT" dirty="0" err="1"/>
              <a:t>error</a:t>
            </a:r>
            <a:r>
              <a:rPr lang="it-IT" dirty="0"/>
              <a:t> like </a:t>
            </a:r>
            <a:r>
              <a:rPr lang="it-IT" dirty="0" err="1"/>
              <a:t>pyhisical</a:t>
            </a:r>
            <a:r>
              <a:rPr lang="it-IT" dirty="0"/>
              <a:t> gates. </a:t>
            </a:r>
          </a:p>
          <a:p>
            <a:pPr marL="0" indent="0">
              <a:buNone/>
            </a:pPr>
            <a:r>
              <a:rPr lang="it-IT" dirty="0"/>
              <a:t>				(t=50  </a:t>
            </a:r>
            <a:r>
              <a:rPr lang="it-IT" dirty="0">
                <a:sym typeface="Wingdings" panose="05000000000000000000" pitchFamily="2" charset="2"/>
              </a:rPr>
              <a:t> 50 gates  </a:t>
            </a:r>
            <a:r>
              <a:rPr lang="it-IT" dirty="0" err="1">
                <a:sym typeface="Wingdings" panose="05000000000000000000" pitchFamily="2" charset="2"/>
              </a:rPr>
              <a:t>noise</a:t>
            </a:r>
            <a:r>
              <a:rPr lang="it-IT" dirty="0">
                <a:sym typeface="Wingdings" panose="05000000000000000000" pitchFamily="2" charset="2"/>
              </a:rPr>
              <a:t>)</a:t>
            </a:r>
            <a:endParaRPr lang="it-IT" dirty="0"/>
          </a:p>
          <a:p>
            <a:endParaRPr lang="it-IT" dirty="0"/>
          </a:p>
          <a:p>
            <a:r>
              <a:rPr lang="it-IT" dirty="0" err="1"/>
              <a:t>We</a:t>
            </a:r>
            <a:r>
              <a:rPr lang="it-IT" dirty="0"/>
              <a:t> use the </a:t>
            </a:r>
            <a:r>
              <a:rPr lang="it-IT" dirty="0" err="1"/>
              <a:t>total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of gates </a:t>
            </a:r>
            <a:r>
              <a:rPr lang="it-IT" dirty="0" err="1"/>
              <a:t>transpiled</a:t>
            </a:r>
            <a:r>
              <a:rPr lang="it-IT" dirty="0"/>
              <a:t> </a:t>
            </a:r>
            <a:r>
              <a:rPr lang="it-IT" dirty="0" err="1"/>
              <a:t>directly</a:t>
            </a:r>
            <a:r>
              <a:rPr lang="it-IT" dirty="0"/>
              <a:t> from </a:t>
            </a:r>
            <a:r>
              <a:rPr lang="it-IT" dirty="0" err="1"/>
              <a:t>Qiskit</a:t>
            </a:r>
            <a:r>
              <a:rPr lang="it-IT" dirty="0"/>
              <a:t> and use </a:t>
            </a:r>
            <a:r>
              <a:rPr lang="it-IT" dirty="0" err="1"/>
              <a:t>those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 </a:t>
            </a:r>
            <a:r>
              <a:rPr lang="it-IT" b="1" dirty="0" err="1"/>
              <a:t>total</a:t>
            </a:r>
            <a:r>
              <a:rPr lang="it-IT" b="1" dirty="0"/>
              <a:t> time </a:t>
            </a:r>
            <a:r>
              <a:rPr lang="it-IT" dirty="0"/>
              <a:t>for </a:t>
            </a:r>
            <a:r>
              <a:rPr lang="it-IT" dirty="0" err="1"/>
              <a:t>which</a:t>
            </a:r>
            <a:r>
              <a:rPr lang="it-IT" dirty="0"/>
              <a:t> the </a:t>
            </a:r>
            <a:r>
              <a:rPr lang="it-IT" dirty="0" err="1"/>
              <a:t>noise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being</a:t>
            </a:r>
            <a:r>
              <a:rPr lang="it-IT" dirty="0"/>
              <a:t> </a:t>
            </a:r>
            <a:r>
              <a:rPr lang="it-IT" dirty="0" err="1"/>
              <a:t>applied</a:t>
            </a:r>
            <a:r>
              <a:rPr lang="it-IT" dirty="0"/>
              <a:t>. </a:t>
            </a:r>
          </a:p>
          <a:p>
            <a:endParaRPr lang="it-IT" sz="2400" dirty="0"/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GATES_EFFECTIVE_ORACLE = </a:t>
            </a:r>
            <a:r>
              <a:rPr lang="en-US" sz="2400" b="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"vertical" </a:t>
            </a: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3445</a:t>
            </a: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"square"   </a:t>
            </a: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6496</a:t>
            </a: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"diagonal" </a:t>
            </a: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769</a:t>
            </a: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"full"     </a:t>
            </a: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2288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45066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B180EC-5EB7-5703-3946-CF082F16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/>
              <a:t>JULIA: MEASURMENTS FROM DENSITY MATRIX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D12909D-BE8B-110B-F8F5-E8728B835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1. Bypassing Simulated Shots</a:t>
            </a:r>
            <a:endParaRPr lang="en-US" dirty="0"/>
          </a:p>
          <a:p>
            <a:r>
              <a:rPr lang="en-US" dirty="0"/>
              <a:t>In </a:t>
            </a:r>
            <a:r>
              <a:rPr lang="en-US" dirty="0" err="1"/>
              <a:t>Qiskit</a:t>
            </a:r>
            <a:r>
              <a:rPr lang="en-US" dirty="0"/>
              <a:t>, we run thousands of "</a:t>
            </a:r>
            <a:r>
              <a:rPr lang="en-US" b="1" dirty="0"/>
              <a:t>shots</a:t>
            </a:r>
            <a:r>
              <a:rPr lang="en-US" dirty="0"/>
              <a:t>" to approximate the probability distribution.</a:t>
            </a:r>
          </a:p>
          <a:p>
            <a:r>
              <a:rPr lang="en-US" dirty="0"/>
              <a:t>In this Julia implementation, we bypass statistical sampling entirely.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2. Reading the Density Matrix</a:t>
            </a:r>
            <a:endParaRPr lang="en-US" dirty="0"/>
          </a:p>
          <a:p>
            <a:r>
              <a:rPr lang="en-US" dirty="0"/>
              <a:t>Since we compute the exact physical state, we simply extract the diagonal of the final </a:t>
            </a:r>
            <a:r>
              <a:rPr lang="en-US" b="1" dirty="0"/>
              <a:t>Density</a:t>
            </a:r>
            <a:r>
              <a:rPr lang="en-US" dirty="0"/>
              <a:t> </a:t>
            </a:r>
            <a:r>
              <a:rPr lang="en-US" b="1" dirty="0"/>
              <a:t>Matrix</a:t>
            </a:r>
            <a:r>
              <a:rPr lang="en-US" dirty="0"/>
              <a:t>.</a:t>
            </a:r>
          </a:p>
          <a:p>
            <a:r>
              <a:rPr lang="en-US" dirty="0"/>
              <a:t>These values represent the exact analytical probabilities of all 512 states. We just sum the target states to get the true success rate.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07040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B49E34-527D-6A51-B192-49CB490C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COMPARISON: JULIA VS QISKIT NOISELESS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B8DC74F-BE46-9105-6FB7-F974DA31833A}"/>
              </a:ext>
            </a:extLst>
          </p:cNvPr>
          <p:cNvSpPr/>
          <p:nvPr/>
        </p:nvSpPr>
        <p:spPr>
          <a:xfrm>
            <a:off x="3191256" y="2204116"/>
            <a:ext cx="1993392" cy="38404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CLASSIC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BD23521-3655-9E36-1FB5-048AC3F66D80}"/>
              </a:ext>
            </a:extLst>
          </p:cNvPr>
          <p:cNvSpPr/>
          <p:nvPr/>
        </p:nvSpPr>
        <p:spPr>
          <a:xfrm>
            <a:off x="5184648" y="2204116"/>
            <a:ext cx="2027936" cy="3840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QISKIT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E47B885-A047-82DF-A0D5-903E1D89AAFD}"/>
              </a:ext>
            </a:extLst>
          </p:cNvPr>
          <p:cNvSpPr/>
          <p:nvPr/>
        </p:nvSpPr>
        <p:spPr>
          <a:xfrm>
            <a:off x="7212584" y="2204116"/>
            <a:ext cx="1993392" cy="3840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JULIA</a:t>
            </a:r>
          </a:p>
        </p:txBody>
      </p:sp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7703C27A-4DA9-0D49-06BD-585A94614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540554"/>
              </p:ext>
            </p:extLst>
          </p:nvPr>
        </p:nvGraphicFramePr>
        <p:xfrm>
          <a:off x="1163320" y="2588164"/>
          <a:ext cx="10065510" cy="3163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102">
                  <a:extLst>
                    <a:ext uri="{9D8B030D-6E8A-4147-A177-3AD203B41FA5}">
                      <a16:colId xmlns:a16="http://schemas.microsoft.com/office/drawing/2014/main" val="3582465254"/>
                    </a:ext>
                  </a:extLst>
                </a:gridCol>
                <a:gridCol w="2013102">
                  <a:extLst>
                    <a:ext uri="{9D8B030D-6E8A-4147-A177-3AD203B41FA5}">
                      <a16:colId xmlns:a16="http://schemas.microsoft.com/office/drawing/2014/main" val="2021352245"/>
                    </a:ext>
                  </a:extLst>
                </a:gridCol>
                <a:gridCol w="2013102">
                  <a:extLst>
                    <a:ext uri="{9D8B030D-6E8A-4147-A177-3AD203B41FA5}">
                      <a16:colId xmlns:a16="http://schemas.microsoft.com/office/drawing/2014/main" val="3445073377"/>
                    </a:ext>
                  </a:extLst>
                </a:gridCol>
                <a:gridCol w="2013102">
                  <a:extLst>
                    <a:ext uri="{9D8B030D-6E8A-4147-A177-3AD203B41FA5}">
                      <a16:colId xmlns:a16="http://schemas.microsoft.com/office/drawing/2014/main" val="1254828777"/>
                    </a:ext>
                  </a:extLst>
                </a:gridCol>
                <a:gridCol w="2013102">
                  <a:extLst>
                    <a:ext uri="{9D8B030D-6E8A-4147-A177-3AD203B41FA5}">
                      <a16:colId xmlns:a16="http://schemas.microsoft.com/office/drawing/2014/main" val="951448847"/>
                    </a:ext>
                  </a:extLst>
                </a:gridCol>
              </a:tblGrid>
              <a:tr h="749396">
                <a:tc>
                  <a:txBody>
                    <a:bodyPr/>
                    <a:lstStyle/>
                    <a:p>
                      <a:r>
                        <a:rPr lang="it-IT" dirty="0"/>
                        <a:t>ORACLE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 PROB.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SUCCESS.PROB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 PROB.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 PROB.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268078"/>
                  </a:ext>
                </a:extLst>
              </a:tr>
              <a:tr h="603563">
                <a:tc>
                  <a:txBody>
                    <a:bodyPr/>
                    <a:lstStyle/>
                    <a:p>
                      <a:r>
                        <a:rPr lang="it-IT" dirty="0"/>
                        <a:t>VERTICAL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33.0 %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92.8 %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93.1 %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93.1 %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38653"/>
                  </a:ext>
                </a:extLst>
              </a:tr>
              <a:tr h="603563">
                <a:tc>
                  <a:txBody>
                    <a:bodyPr/>
                    <a:lstStyle/>
                    <a:p>
                      <a:r>
                        <a:rPr lang="it-IT" dirty="0"/>
                        <a:t>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94.4 %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94.6 %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94.6 %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0320461"/>
                  </a:ext>
                </a:extLst>
              </a:tr>
              <a:tr h="603563">
                <a:tc>
                  <a:txBody>
                    <a:bodyPr/>
                    <a:lstStyle/>
                    <a:p>
                      <a:r>
                        <a:rPr lang="it-IT" dirty="0"/>
                        <a:t>DIAGONAL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98.8 %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98.8 %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98.8 %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982304"/>
                  </a:ext>
                </a:extLst>
              </a:tr>
              <a:tr h="603563">
                <a:tc>
                  <a:txBody>
                    <a:bodyPr/>
                    <a:lstStyle/>
                    <a:p>
                      <a:r>
                        <a:rPr lang="it-IT" dirty="0"/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99.9 %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99.9 %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99.9 %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899784"/>
                  </a:ext>
                </a:extLst>
              </a:tr>
            </a:tbl>
          </a:graphicData>
        </a:graphic>
      </p:graphicFrame>
      <p:sp>
        <p:nvSpPr>
          <p:cNvPr id="14" name="Rettangolo 13">
            <a:extLst>
              <a:ext uri="{FF2B5EF4-FFF2-40B4-BE49-F238E27FC236}">
                <a16:creationId xmlns:a16="http://schemas.microsoft.com/office/drawing/2014/main" id="{1387F425-8732-5F02-2DCE-7888B34996E0}"/>
              </a:ext>
            </a:extLst>
          </p:cNvPr>
          <p:cNvSpPr/>
          <p:nvPr/>
        </p:nvSpPr>
        <p:spPr>
          <a:xfrm>
            <a:off x="9205976" y="2204116"/>
            <a:ext cx="1993392" cy="38404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THEORICAL</a:t>
            </a:r>
          </a:p>
        </p:txBody>
      </p:sp>
    </p:spTree>
    <p:extLst>
      <p:ext uri="{BB962C8B-B14F-4D97-AF65-F5344CB8AC3E}">
        <p14:creationId xmlns:p14="http://schemas.microsoft.com/office/powerpoint/2010/main" val="2507635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5D51CF-87F6-FD75-221E-EF45CF91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/>
              <a:t>COMPARISON: QISKIT VS JULIA (DEPOLARIZING)</a:t>
            </a:r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DCAA8CD8-B64B-358C-76E7-88F42ED907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7147414"/>
              </p:ext>
            </p:extLst>
          </p:nvPr>
        </p:nvGraphicFramePr>
        <p:xfrm>
          <a:off x="838200" y="2090801"/>
          <a:ext cx="10515600" cy="1856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7765191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3559405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73724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27832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7432883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26390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Error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prob</a:t>
                      </a:r>
                      <a:r>
                        <a:rPr lang="it-IT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920694"/>
                  </a:ext>
                </a:extLst>
              </a:tr>
              <a:tr h="372999">
                <a:tc>
                  <a:txBody>
                    <a:bodyPr/>
                    <a:lstStyle/>
                    <a:p>
                      <a:r>
                        <a:rPr lang="it-IT" dirty="0"/>
                        <a:t>p =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44.0 %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3.97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999.5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45.0 %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3.68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527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3.396 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1</a:t>
                      </a:r>
                      <a:r>
                        <a:rPr lang="el-GR" dirty="0"/>
                        <a:t>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33.2 %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3.68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16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32.7 %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3.678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33.0 %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3.68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598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32.2 %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3.428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1</a:t>
                      </a:r>
                      <a:r>
                        <a:rPr lang="el-GR" dirty="0"/>
                        <a:t>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33.0 %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3.68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539655"/>
                  </a:ext>
                </a:extLst>
              </a:tr>
            </a:tbl>
          </a:graphicData>
        </a:graphic>
      </p:graphicFrame>
      <p:sp>
        <p:nvSpPr>
          <p:cNvPr id="8" name="Rettangolo 7">
            <a:extLst>
              <a:ext uri="{FF2B5EF4-FFF2-40B4-BE49-F238E27FC236}">
                <a16:creationId xmlns:a16="http://schemas.microsoft.com/office/drawing/2014/main" id="{1459657D-6B93-E626-7782-340A9F5B8F61}"/>
              </a:ext>
            </a:extLst>
          </p:cNvPr>
          <p:cNvSpPr/>
          <p:nvPr/>
        </p:nvSpPr>
        <p:spPr>
          <a:xfrm>
            <a:off x="838200" y="1609344"/>
            <a:ext cx="5257800" cy="4937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QISKIT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A2B49F8-F166-8C3C-8D42-B513C6F02246}"/>
              </a:ext>
            </a:extLst>
          </p:cNvPr>
          <p:cNvSpPr/>
          <p:nvPr/>
        </p:nvSpPr>
        <p:spPr>
          <a:xfrm>
            <a:off x="6096000" y="1609344"/>
            <a:ext cx="5257800" cy="49377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QUANTUMSAVORY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3C9A5AF-E888-2756-DEB7-76C99CD9354C}"/>
              </a:ext>
            </a:extLst>
          </p:cNvPr>
          <p:cNvSpPr/>
          <p:nvPr/>
        </p:nvSpPr>
        <p:spPr>
          <a:xfrm rot="16200000">
            <a:off x="-577596" y="2531364"/>
            <a:ext cx="2337816" cy="49377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VERTICAL</a:t>
            </a:r>
          </a:p>
        </p:txBody>
      </p:sp>
      <p:graphicFrame>
        <p:nvGraphicFramePr>
          <p:cNvPr id="11" name="Segnaposto contenuto 6">
            <a:extLst>
              <a:ext uri="{FF2B5EF4-FFF2-40B4-BE49-F238E27FC236}">
                <a16:creationId xmlns:a16="http://schemas.microsoft.com/office/drawing/2014/main" id="{2E385CDA-F642-BF74-B74D-A1B2B6B5A1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0102089"/>
              </p:ext>
            </p:extLst>
          </p:nvPr>
        </p:nvGraphicFramePr>
        <p:xfrm>
          <a:off x="838200" y="4828730"/>
          <a:ext cx="10515600" cy="1856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7765191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3559405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73724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27832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7432883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26390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Error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prob</a:t>
                      </a:r>
                      <a:r>
                        <a:rPr lang="it-IT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Time </a:t>
                      </a:r>
                      <a:r>
                        <a:rPr lang="it-IT" dirty="0" err="1"/>
                        <a:t>exec</a:t>
                      </a:r>
                      <a:r>
                        <a:rPr lang="it-IT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Time </a:t>
                      </a:r>
                      <a:r>
                        <a:rPr lang="it-IT" dirty="0" err="1"/>
                        <a:t>exec</a:t>
                      </a:r>
                      <a:r>
                        <a:rPr lang="it-IT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920694"/>
                  </a:ext>
                </a:extLst>
              </a:tr>
              <a:tr h="372999">
                <a:tc>
                  <a:txBody>
                    <a:bodyPr/>
                    <a:lstStyle/>
                    <a:p>
                      <a:r>
                        <a:rPr lang="it-IT" dirty="0"/>
                        <a:t>p =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21.8 %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6.512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999.5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22.5 %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7.375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527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6.233 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1</a:t>
                      </a:r>
                      <a:r>
                        <a:rPr lang="el-GR" dirty="0"/>
                        <a:t>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7.375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16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5.984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7.375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598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19.0 %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5.803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1</a:t>
                      </a:r>
                      <a:r>
                        <a:rPr lang="el-GR" dirty="0"/>
                        <a:t>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7.375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539655"/>
                  </a:ext>
                </a:extLst>
              </a:tr>
            </a:tbl>
          </a:graphicData>
        </a:graphic>
      </p:graphicFrame>
      <p:sp>
        <p:nvSpPr>
          <p:cNvPr id="12" name="Rettangolo 11">
            <a:extLst>
              <a:ext uri="{FF2B5EF4-FFF2-40B4-BE49-F238E27FC236}">
                <a16:creationId xmlns:a16="http://schemas.microsoft.com/office/drawing/2014/main" id="{9E326E9B-4489-984C-A0FC-D8CFC9F7F890}"/>
              </a:ext>
            </a:extLst>
          </p:cNvPr>
          <p:cNvSpPr/>
          <p:nvPr/>
        </p:nvSpPr>
        <p:spPr>
          <a:xfrm>
            <a:off x="838200" y="4347273"/>
            <a:ext cx="5257800" cy="4937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QISKIT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6E4D0B2-7F15-D297-ECF9-953268ED67D2}"/>
              </a:ext>
            </a:extLst>
          </p:cNvPr>
          <p:cNvSpPr/>
          <p:nvPr/>
        </p:nvSpPr>
        <p:spPr>
          <a:xfrm>
            <a:off x="6096000" y="4347273"/>
            <a:ext cx="5257800" cy="49377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QUANTUMSAVORY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79E6B29-B6B2-CE6C-9B86-BB34413D608B}"/>
              </a:ext>
            </a:extLst>
          </p:cNvPr>
          <p:cNvSpPr/>
          <p:nvPr/>
        </p:nvSpPr>
        <p:spPr>
          <a:xfrm rot="16200000">
            <a:off x="-577596" y="5269293"/>
            <a:ext cx="2337816" cy="4937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SQUARE</a:t>
            </a:r>
          </a:p>
        </p:txBody>
      </p:sp>
    </p:spTree>
    <p:extLst>
      <p:ext uri="{BB962C8B-B14F-4D97-AF65-F5344CB8AC3E}">
        <p14:creationId xmlns:p14="http://schemas.microsoft.com/office/powerpoint/2010/main" val="17751583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6DA4C-AEAF-9C2D-E8D2-6671E8185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51C02E-D2E6-9DBE-692B-E83E0965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dirty="0"/>
              <a:t>COMPARISON: QISKIT VS JULIA (DEPOLARIZING)</a:t>
            </a:r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B97AB40A-562C-4646-0C06-8BFF8D4097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292398"/>
              </p:ext>
            </p:extLst>
          </p:nvPr>
        </p:nvGraphicFramePr>
        <p:xfrm>
          <a:off x="838200" y="2090801"/>
          <a:ext cx="10515600" cy="1856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7765191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3559405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73724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27832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7432883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26390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Error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prob</a:t>
                      </a:r>
                      <a:r>
                        <a:rPr lang="it-IT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Time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920694"/>
                  </a:ext>
                </a:extLst>
              </a:tr>
              <a:tr h="372999">
                <a:tc>
                  <a:txBody>
                    <a:bodyPr/>
                    <a:lstStyle/>
                    <a:p>
                      <a:r>
                        <a:rPr lang="it-IT" dirty="0"/>
                        <a:t>p =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75.7 %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0.930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999.5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72.4 %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0.852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527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35.2 %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0.775 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1</a:t>
                      </a:r>
                      <a:r>
                        <a:rPr lang="el-GR" dirty="0"/>
                        <a:t>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33.0 %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0.852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16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25.5 %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0.766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24.2 %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0.852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598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21.9 %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0.780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1</a:t>
                      </a:r>
                      <a:r>
                        <a:rPr lang="el-GR" dirty="0"/>
                        <a:t>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21.9 %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0.852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539655"/>
                  </a:ext>
                </a:extLst>
              </a:tr>
            </a:tbl>
          </a:graphicData>
        </a:graphic>
      </p:graphicFrame>
      <p:sp>
        <p:nvSpPr>
          <p:cNvPr id="8" name="Rettangolo 7">
            <a:extLst>
              <a:ext uri="{FF2B5EF4-FFF2-40B4-BE49-F238E27FC236}">
                <a16:creationId xmlns:a16="http://schemas.microsoft.com/office/drawing/2014/main" id="{C2CF4BD0-AEB6-40E6-F356-2D7B7AD9F5FD}"/>
              </a:ext>
            </a:extLst>
          </p:cNvPr>
          <p:cNvSpPr/>
          <p:nvPr/>
        </p:nvSpPr>
        <p:spPr>
          <a:xfrm>
            <a:off x="838200" y="1609344"/>
            <a:ext cx="5257800" cy="4937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QISKIT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8A3AB9A-EBFD-DC91-95AF-0274CBA0F193}"/>
              </a:ext>
            </a:extLst>
          </p:cNvPr>
          <p:cNvSpPr/>
          <p:nvPr/>
        </p:nvSpPr>
        <p:spPr>
          <a:xfrm>
            <a:off x="6096000" y="1609344"/>
            <a:ext cx="5257800" cy="49377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QUANTUMSAVORY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5F85BDA-38D9-3088-40FE-66A0EED2B5E0}"/>
              </a:ext>
            </a:extLst>
          </p:cNvPr>
          <p:cNvSpPr/>
          <p:nvPr/>
        </p:nvSpPr>
        <p:spPr>
          <a:xfrm rot="16200000">
            <a:off x="-577596" y="2531364"/>
            <a:ext cx="2337816" cy="49377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DIAGONAL</a:t>
            </a:r>
          </a:p>
        </p:txBody>
      </p:sp>
      <p:graphicFrame>
        <p:nvGraphicFramePr>
          <p:cNvPr id="11" name="Segnaposto contenuto 6">
            <a:extLst>
              <a:ext uri="{FF2B5EF4-FFF2-40B4-BE49-F238E27FC236}">
                <a16:creationId xmlns:a16="http://schemas.microsoft.com/office/drawing/2014/main" id="{7A44B1FF-5B69-9539-0447-61C963D199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4614450"/>
              </p:ext>
            </p:extLst>
          </p:nvPr>
        </p:nvGraphicFramePr>
        <p:xfrm>
          <a:off x="838200" y="4828730"/>
          <a:ext cx="10515600" cy="1856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7765191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3559405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73724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27832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07432883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26390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Error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prob</a:t>
                      </a:r>
                      <a:r>
                        <a:rPr lang="it-IT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Time </a:t>
                      </a:r>
                      <a:r>
                        <a:rPr lang="it-IT" dirty="0" err="1"/>
                        <a:t>exec</a:t>
                      </a:r>
                      <a:r>
                        <a:rPr lang="it-IT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Time </a:t>
                      </a:r>
                      <a:r>
                        <a:rPr lang="it-IT" dirty="0" err="1"/>
                        <a:t>exec</a:t>
                      </a:r>
                      <a:r>
                        <a:rPr lang="it-IT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920694"/>
                  </a:ext>
                </a:extLst>
              </a:tr>
              <a:tr h="372999">
                <a:tc>
                  <a:txBody>
                    <a:bodyPr/>
                    <a:lstStyle/>
                    <a:p>
                      <a:r>
                        <a:rPr lang="it-IT" dirty="0"/>
                        <a:t>p =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30.196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999.5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0.2 %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43.18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527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31.176 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1</a:t>
                      </a:r>
                      <a:r>
                        <a:rPr lang="el-GR" dirty="0"/>
                        <a:t>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43.18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163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0.1 %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30.285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99.5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43.18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598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p = 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0.2 %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30.009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τ</a:t>
                      </a:r>
                      <a:r>
                        <a:rPr lang="it-IT" dirty="0"/>
                        <a:t> </a:t>
                      </a:r>
                      <a:r>
                        <a:rPr lang="el-GR" dirty="0"/>
                        <a:t>=</a:t>
                      </a:r>
                      <a:r>
                        <a:rPr lang="it-IT" dirty="0"/>
                        <a:t> 1</a:t>
                      </a:r>
                      <a:r>
                        <a:rPr lang="el-GR" dirty="0"/>
                        <a:t>9.5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43.18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539655"/>
                  </a:ext>
                </a:extLst>
              </a:tr>
            </a:tbl>
          </a:graphicData>
        </a:graphic>
      </p:graphicFrame>
      <p:sp>
        <p:nvSpPr>
          <p:cNvPr id="12" name="Rettangolo 11">
            <a:extLst>
              <a:ext uri="{FF2B5EF4-FFF2-40B4-BE49-F238E27FC236}">
                <a16:creationId xmlns:a16="http://schemas.microsoft.com/office/drawing/2014/main" id="{8BD5DFC6-7827-DD1E-B7C1-3709E06A845B}"/>
              </a:ext>
            </a:extLst>
          </p:cNvPr>
          <p:cNvSpPr/>
          <p:nvPr/>
        </p:nvSpPr>
        <p:spPr>
          <a:xfrm>
            <a:off x="838200" y="4347273"/>
            <a:ext cx="5257800" cy="4937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QISKIT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06B9D0A-A1F0-627C-1E31-025599D15D3B}"/>
              </a:ext>
            </a:extLst>
          </p:cNvPr>
          <p:cNvSpPr/>
          <p:nvPr/>
        </p:nvSpPr>
        <p:spPr>
          <a:xfrm>
            <a:off x="6096000" y="4347273"/>
            <a:ext cx="5257800" cy="49377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QUANTUMSAVORY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791C9CF-F2A1-271E-02A7-88B98527F585}"/>
              </a:ext>
            </a:extLst>
          </p:cNvPr>
          <p:cNvSpPr/>
          <p:nvPr/>
        </p:nvSpPr>
        <p:spPr>
          <a:xfrm rot="16200000">
            <a:off x="-577596" y="5269293"/>
            <a:ext cx="2337816" cy="49377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FULL</a:t>
            </a:r>
          </a:p>
        </p:txBody>
      </p:sp>
    </p:spTree>
    <p:extLst>
      <p:ext uri="{BB962C8B-B14F-4D97-AF65-F5344CB8AC3E}">
        <p14:creationId xmlns:p14="http://schemas.microsoft.com/office/powerpoint/2010/main" val="4217187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689254-A99F-4E8B-01A8-6AF9C70F6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CONCLUSION: GROVER VS CLASSIC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C51CD5A-D088-8C08-945A-007D18203D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it-IT" dirty="0"/>
                  <a:t>The </a:t>
                </a:r>
                <a:r>
                  <a:rPr lang="it-IT" dirty="0" err="1"/>
                  <a:t>classical</a:t>
                </a:r>
                <a:r>
                  <a:rPr lang="it-IT" dirty="0"/>
                  <a:t> </a:t>
                </a:r>
                <a:r>
                  <a:rPr lang="it-IT" dirty="0" err="1"/>
                  <a:t>bottleneck</a:t>
                </a:r>
                <a:r>
                  <a:rPr lang="it-IT" dirty="0"/>
                  <a:t>: </a:t>
                </a:r>
              </a:p>
              <a:p>
                <a:pPr lvl="1"/>
                <a:r>
                  <a:rPr lang="it-IT" b="1" dirty="0" err="1"/>
                  <a:t>Classical</a:t>
                </a:r>
                <a:r>
                  <a:rPr lang="it-IT" dirty="0"/>
                  <a:t> </a:t>
                </a:r>
                <a:r>
                  <a:rPr lang="it-IT" b="1" dirty="0" err="1"/>
                  <a:t>search</a:t>
                </a:r>
                <a:r>
                  <a:rPr lang="it-IT" dirty="0"/>
                  <a:t>: </a:t>
                </a:r>
                <a:r>
                  <a:rPr lang="en-US" dirty="0"/>
                  <a:t>Unstructured search scales linearly at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>
                    <a:latin typeface="Arial" panose="020B0604020202020204" pitchFamily="34" charset="0"/>
                  </a:rPr>
                  <a:t>.</a:t>
                </a:r>
                <a:endParaRPr lang="en-US" dirty="0"/>
              </a:p>
              <a:p>
                <a:pPr lvl="1"/>
                <a:r>
                  <a:rPr lang="it-IT" altLang="it-IT" b="1" dirty="0" err="1">
                    <a:latin typeface="Google Sans Text"/>
                  </a:rPr>
                  <a:t>Worst</a:t>
                </a:r>
                <a:r>
                  <a:rPr lang="it-IT" altLang="it-IT" b="1" dirty="0">
                    <a:latin typeface="Google Sans Text"/>
                  </a:rPr>
                  <a:t> Case:</a:t>
                </a:r>
                <a:r>
                  <a:rPr lang="it-IT" altLang="it-IT" dirty="0"/>
                  <a:t> To </a:t>
                </a:r>
                <a:r>
                  <a:rPr lang="it-IT" altLang="it-IT" dirty="0" err="1"/>
                  <a:t>find</a:t>
                </a:r>
                <a:r>
                  <a:rPr lang="it-IT" altLang="it-IT" dirty="0"/>
                  <a:t> a </a:t>
                </a:r>
                <a:r>
                  <a:rPr lang="it-IT" altLang="it-IT" dirty="0" err="1"/>
                  <a:t>solution</a:t>
                </a:r>
                <a:r>
                  <a:rPr lang="it-IT" altLang="it-IT" dirty="0"/>
                  <a:t>, a </a:t>
                </a:r>
                <a:r>
                  <a:rPr lang="it-IT" altLang="it-IT" dirty="0" err="1"/>
                  <a:t>classical</a:t>
                </a:r>
                <a:r>
                  <a:rPr lang="it-IT" altLang="it-IT" dirty="0"/>
                  <a:t> computer </a:t>
                </a:r>
                <a:r>
                  <a:rPr lang="it-IT" altLang="it-IT" dirty="0" err="1"/>
                  <a:t>might</a:t>
                </a:r>
                <a:r>
                  <a:rPr lang="it-IT" altLang="it-IT" dirty="0"/>
                  <a:t> </a:t>
                </a:r>
                <a:r>
                  <a:rPr lang="it-IT" altLang="it-IT" dirty="0" err="1"/>
                  <a:t>need</a:t>
                </a:r>
                <a:r>
                  <a:rPr lang="it-IT" altLang="it-IT" dirty="0"/>
                  <a:t> to check </a:t>
                </a:r>
                <a:r>
                  <a:rPr lang="it-IT" altLang="it-IT" dirty="0" err="1"/>
                  <a:t>all</a:t>
                </a:r>
                <a:r>
                  <a:rPr lang="it-IT" altLang="it-IT" dirty="0"/>
                  <a:t> </a:t>
                </a:r>
                <a:r>
                  <a:rPr lang="it-IT" altLang="it-IT" dirty="0">
                    <a:latin typeface="Google Sans Text"/>
                  </a:rPr>
                  <a:t>N</a:t>
                </a:r>
                <a:r>
                  <a:rPr lang="it-IT" altLang="it-IT" dirty="0"/>
                  <a:t> </a:t>
                </a:r>
                <a:r>
                  <a:rPr lang="it-IT" altLang="it-IT" dirty="0" err="1"/>
                  <a:t>possibilities</a:t>
                </a:r>
                <a:r>
                  <a:rPr lang="it-IT" altLang="it-IT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it-IT" altLang="it-IT" dirty="0" err="1">
                    <a:latin typeface="Arial" panose="020B0604020202020204" pitchFamily="34" charset="0"/>
                  </a:rPr>
                  <a:t>Grover’s</a:t>
                </a:r>
                <a:r>
                  <a:rPr lang="it-IT" altLang="it-IT" dirty="0">
                    <a:latin typeface="Arial" panose="020B0604020202020204" pitchFamily="34" charset="0"/>
                  </a:rPr>
                  <a:t> </a:t>
                </a:r>
                <a:r>
                  <a:rPr lang="it-IT" altLang="it-IT" dirty="0" err="1">
                    <a:latin typeface="Arial" panose="020B0604020202020204" pitchFamily="34" charset="0"/>
                  </a:rPr>
                  <a:t>advantage</a:t>
                </a:r>
                <a:r>
                  <a:rPr lang="it-IT" altLang="it-IT" dirty="0">
                    <a:latin typeface="Arial" panose="020B0604020202020204" pitchFamily="34" charset="0"/>
                  </a:rPr>
                  <a:t>:</a:t>
                </a:r>
              </a:p>
              <a:p>
                <a:pPr lvl="1"/>
                <a:r>
                  <a:rPr lang="en-US" b="1" dirty="0"/>
                  <a:t>Quantum Search:</a:t>
                </a:r>
                <a:r>
                  <a:rPr lang="en-US" dirty="0"/>
                  <a:t> Grover's algorithm provides a quadratic speedup, scaling at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altLang="it-IT" dirty="0">
                    <a:latin typeface="Arial" panose="020B0604020202020204" pitchFamily="34" charset="0"/>
                  </a:rPr>
                  <a:t>.</a:t>
                </a:r>
              </a:p>
              <a:p>
                <a:pPr lvl="1"/>
                <a:r>
                  <a:rPr lang="en-US" b="1" dirty="0"/>
                  <a:t>The Mechanism:</a:t>
                </a:r>
                <a:r>
                  <a:rPr lang="en-US" dirty="0"/>
                  <a:t> Amplitude amplification continuously boosts the target probability, reaching certainty in a fraction of the time.</a:t>
                </a:r>
                <a:endParaRPr lang="it-IT" altLang="it-IT" dirty="0">
                  <a:latin typeface="Arial" panose="020B0604020202020204" pitchFamily="34" charset="0"/>
                </a:endParaRPr>
              </a:p>
              <a:p>
                <a:pPr lvl="1"/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C51CD5A-D088-8C08-945A-007D18203D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46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680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CEAC6-F4BB-F6E5-382F-6AAC7122F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26F587B-6D18-52A2-BFC8-40627E568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it-IT" sz="3400"/>
              <a:t>CONCLUSION: NISQ ERA</a:t>
            </a: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283F610-89E3-69FD-D5C5-1B9B03DDC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sz="1500"/>
              <a:t>What is NISQ?</a:t>
            </a:r>
          </a:p>
          <a:p>
            <a:pPr lvl="1"/>
            <a:r>
              <a:rPr lang="it-IT" sz="1500" b="1"/>
              <a:t>N</a:t>
            </a:r>
            <a:r>
              <a:rPr lang="it-IT" sz="1500"/>
              <a:t>oisy </a:t>
            </a:r>
            <a:r>
              <a:rPr lang="it-IT" sz="1500" b="1"/>
              <a:t>I</a:t>
            </a:r>
            <a:r>
              <a:rPr lang="it-IT" sz="1500"/>
              <a:t>ntermediate-</a:t>
            </a:r>
            <a:r>
              <a:rPr lang="it-IT" sz="1500" b="1"/>
              <a:t>S</a:t>
            </a:r>
            <a:r>
              <a:rPr lang="it-IT" sz="1500"/>
              <a:t>cale </a:t>
            </a:r>
            <a:r>
              <a:rPr lang="it-IT" sz="1500" b="1"/>
              <a:t>Q</a:t>
            </a:r>
            <a:r>
              <a:rPr lang="it-IT" sz="1500"/>
              <a:t>uantum computing.</a:t>
            </a:r>
          </a:p>
          <a:p>
            <a:pPr lvl="1"/>
            <a:r>
              <a:rPr lang="en-US" sz="1500"/>
              <a:t>Current quantum hardware lacks full fault-tolerance and error correction. Qubits are fragile and easily lose coherence over time.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500"/>
              <a:t>The Depth Challenge for Grover</a:t>
            </a:r>
          </a:p>
          <a:p>
            <a:pPr lvl="1"/>
            <a:r>
              <a:rPr lang="en-US" sz="1500"/>
              <a:t>Grover's algorithm requires deep circuits with thousands of gates.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1500"/>
              <a:t>Why Simulations Matter</a:t>
            </a:r>
          </a:p>
          <a:p>
            <a:pPr lvl="1"/>
            <a:r>
              <a:rPr lang="en-US" sz="1500"/>
              <a:t>we can study the exact hardware threshold where Grover's mathematical perfection is broken by physical reality.</a:t>
            </a:r>
          </a:p>
          <a:p>
            <a:pPr marL="457200" lvl="1" indent="0">
              <a:buNone/>
            </a:pPr>
            <a:endParaRPr lang="en-US" sz="1500"/>
          </a:p>
        </p:txBody>
      </p:sp>
      <p:pic>
        <p:nvPicPr>
          <p:cNvPr id="3" name="Segnaposto contenuto 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1D0356D9-77C6-01B3-3523-2FA94EF55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807318"/>
            <a:ext cx="6440424" cy="318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362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2963</TotalTime>
  <Words>2310</Words>
  <Application>Microsoft Office PowerPoint</Application>
  <PresentationFormat>Widescreen</PresentationFormat>
  <Paragraphs>417</Paragraphs>
  <Slides>30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Cambria Math</vt:lpstr>
      <vt:lpstr>Consolas</vt:lpstr>
      <vt:lpstr>Google Sans Text</vt:lpstr>
      <vt:lpstr>Wingdings</vt:lpstr>
      <vt:lpstr>Tema di Office</vt:lpstr>
      <vt:lpstr>PATTERN SEARCH ON A 3x3 GRID USING QUANTUM GROVER ALGORITHM</vt:lpstr>
      <vt:lpstr>PATTERN SEARCH: CLASSICAL VS QUANTUM</vt:lpstr>
      <vt:lpstr>The Oracle and the 4 Target Patterns</vt:lpstr>
      <vt:lpstr>Classical Performance</vt:lpstr>
      <vt:lpstr>INTRODUCTION TO QUANTUM GROVER</vt:lpstr>
      <vt:lpstr>GROVER ITERATION (Taylor approximation)</vt:lpstr>
      <vt:lpstr>GROVER ITERATION (Geometric Interpretation)</vt:lpstr>
      <vt:lpstr>CLASSICAL VS GROVER</vt:lpstr>
      <vt:lpstr>ORACLE DESIGN: THE PRINCIPLE OF INCLUSION-EXCLUSION</vt:lpstr>
      <vt:lpstr>ORACLE DESIGN: THE PRINCIPLE OF INCLUSION-EXCLUSION</vt:lpstr>
      <vt:lpstr>ORACLE DESIGN: THE PRINCIPLE OF INCLUSION-EXCLUSION</vt:lpstr>
      <vt:lpstr>QISKIT VERTICAL CIRCUIT</vt:lpstr>
      <vt:lpstr>QISKIT SQUARE CIRCUIT</vt:lpstr>
      <vt:lpstr>QISKIT DIAGONAL CIRCUIT</vt:lpstr>
      <vt:lpstr>QISKIT FULL CIRCUIT</vt:lpstr>
      <vt:lpstr>QISKIT NOISLESS SIMULATION</vt:lpstr>
      <vt:lpstr>QISKIT NOISE MODELS </vt:lpstr>
      <vt:lpstr>QISKIT NOISELESS VS BIT FLIP VS DEPOLARIZING</vt:lpstr>
      <vt:lpstr>QISKIT REAL HARDWARE (FAKEKOLKATA)</vt:lpstr>
      <vt:lpstr>JULIA: QUANTUM SAVORY NOISE</vt:lpstr>
      <vt:lpstr>JULIA: SYSTEM CONSTRUCTION</vt:lpstr>
      <vt:lpstr>JULIA: THE CORE SIMULATION LOOP</vt:lpstr>
      <vt:lpstr>JULIA: CALIBRATING TIME FOR NOISE</vt:lpstr>
      <vt:lpstr>JULIA: CALIBRATING TIME FOR NOISE</vt:lpstr>
      <vt:lpstr>JULIA: MEASURMENTS FROM DENSITY MATRIX</vt:lpstr>
      <vt:lpstr>COMPARISON: JULIA VS QISKIT NOISELESS</vt:lpstr>
      <vt:lpstr>COMPARISON: QISKIT VS JULIA (DEPOLARIZING)</vt:lpstr>
      <vt:lpstr>COMPARISON: QISKIT VS JULIA (DEPOLARIZING)</vt:lpstr>
      <vt:lpstr>CONCLUSION: GROVER VS CLASSIC</vt:lpstr>
      <vt:lpstr>CONCLUSION: NISQ 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Klaudio K</dc:creator>
  <cp:lastModifiedBy>Klaudio K</cp:lastModifiedBy>
  <cp:revision>210</cp:revision>
  <dcterms:created xsi:type="dcterms:W3CDTF">2026-04-07T09:31:44Z</dcterms:created>
  <dcterms:modified xsi:type="dcterms:W3CDTF">2026-04-20T17:28:38Z</dcterms:modified>
</cp:coreProperties>
</file>